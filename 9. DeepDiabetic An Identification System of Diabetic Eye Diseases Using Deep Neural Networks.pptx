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notesMasterIdLst>
    <p:notesMasterId r:id="rId31"/>
  </p:notesMasterIdLst>
  <p:sldIdLst>
    <p:sldId id="287" r:id="rId4"/>
    <p:sldId id="257" r:id="rId5"/>
    <p:sldId id="301" r:id="rId6"/>
    <p:sldId id="299" r:id="rId7"/>
    <p:sldId id="258" r:id="rId8"/>
    <p:sldId id="259" r:id="rId9"/>
    <p:sldId id="260" r:id="rId10"/>
    <p:sldId id="261" r:id="rId11"/>
    <p:sldId id="262" r:id="rId12"/>
    <p:sldId id="263" r:id="rId13"/>
    <p:sldId id="264" r:id="rId14"/>
    <p:sldId id="302" r:id="rId15"/>
    <p:sldId id="268" r:id="rId16"/>
    <p:sldId id="269" r:id="rId17"/>
    <p:sldId id="270" r:id="rId18"/>
    <p:sldId id="288" r:id="rId19"/>
    <p:sldId id="289" r:id="rId20"/>
    <p:sldId id="290" r:id="rId21"/>
    <p:sldId id="292" r:id="rId22"/>
    <p:sldId id="293" r:id="rId23"/>
    <p:sldId id="294" r:id="rId24"/>
    <p:sldId id="295" r:id="rId25"/>
    <p:sldId id="303" r:id="rId26"/>
    <p:sldId id="296" r:id="rId27"/>
    <p:sldId id="297" r:id="rId28"/>
    <p:sldId id="298" r:id="rId29"/>
    <p:sldId id="300" r:id="rId30"/>
  </p:sldIdLst>
  <p:sldSz cx="10080625" cy="567055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57" d="100"/>
          <a:sy n="57" d="100"/>
        </p:scale>
        <p:origin x="-77" y="-816"/>
      </p:cViewPr>
      <p:guideLst>
        <p:guide orient="horz" pos="1786"/>
        <p:guide pos="3175"/>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4988"/>
          </a:xfrm>
          <a:prstGeom prst="rect">
            <a:avLst/>
          </a:prstGeom>
        </p:spPr>
        <p:txBody>
          <a:bodyPr vert="horz" lIns="91440" tIns="45720" rIns="91440" bIns="45720" rtlCol="0"/>
          <a:lstStyle>
            <a:lvl1pPr algn="r">
              <a:defRPr sz="1200"/>
            </a:lvl1pPr>
          </a:lstStyle>
          <a:p>
            <a:fld id="{C35B0D45-C5C6-4840-A240-81FE844FAD80}" type="datetimeFigureOut">
              <a:rPr lang="en-US" smtClean="0"/>
              <a:pPr/>
              <a:t>5/22/2025</a:t>
            </a:fld>
            <a:endParaRPr lang="en-US"/>
          </a:p>
        </p:txBody>
      </p:sp>
      <p:sp>
        <p:nvSpPr>
          <p:cNvPr id="4" name="Slide Image Placeholder 3"/>
          <p:cNvSpPr>
            <a:spLocks noGrp="1" noRot="1" noChangeAspect="1"/>
          </p:cNvSpPr>
          <p:nvPr>
            <p:ph type="sldImg" idx="2"/>
          </p:nvPr>
        </p:nvSpPr>
        <p:spPr>
          <a:xfrm>
            <a:off x="215900" y="801688"/>
            <a:ext cx="7127875" cy="40100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078413"/>
            <a:ext cx="6048375" cy="481171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10155238"/>
            <a:ext cx="3276600" cy="5349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4987"/>
          </a:xfrm>
          <a:prstGeom prst="rect">
            <a:avLst/>
          </a:prstGeom>
        </p:spPr>
        <p:txBody>
          <a:bodyPr vert="horz" lIns="91440" tIns="45720" rIns="91440" bIns="45720" rtlCol="0" anchor="b"/>
          <a:lstStyle>
            <a:lvl1pPr algn="r">
              <a:defRPr sz="1200"/>
            </a:lvl1pPr>
          </a:lstStyle>
          <a:p>
            <a:fld id="{B2BB0686-6ADC-4D72-BD2F-5A2689CFBA7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2BB0686-6ADC-4D72-BD2F-5A2689CFBA72}" type="slidenum">
              <a:rPr lang="en-US" smtClean="0"/>
              <a:pPr/>
              <a:t>24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3" name="PlaceHolder 2"/>
          <p:cNvSpPr>
            <a:spLocks noGrp="1"/>
          </p:cNvSpPr>
          <p:nvPr>
            <p:ph type="subTitle"/>
          </p:nvPr>
        </p:nvSpPr>
        <p:spPr>
          <a:xfrm>
            <a:off x="503640" y="1326600"/>
            <a:ext cx="9072000" cy="328860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5" name="PlaceHolder 2"/>
          <p:cNvSpPr>
            <a:spLocks noGrp="1"/>
          </p:cNvSpPr>
          <p:nvPr>
            <p:ph/>
          </p:nvPr>
        </p:nvSpPr>
        <p:spPr>
          <a:xfrm>
            <a:off x="503640" y="1326600"/>
            <a:ext cx="907200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7" name="PlaceHolder 2"/>
          <p:cNvSpPr>
            <a:spLocks noGrp="1"/>
          </p:cNvSpPr>
          <p:nvPr>
            <p:ph/>
          </p:nvPr>
        </p:nvSpPr>
        <p:spPr>
          <a:xfrm>
            <a:off x="503640" y="1326600"/>
            <a:ext cx="442692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8" name="PlaceHolder 3"/>
          <p:cNvSpPr>
            <a:spLocks noGrp="1"/>
          </p:cNvSpPr>
          <p:nvPr>
            <p:ph/>
          </p:nvPr>
        </p:nvSpPr>
        <p:spPr>
          <a:xfrm>
            <a:off x="5152320" y="1326600"/>
            <a:ext cx="442692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503640" y="226080"/>
            <a:ext cx="9072000" cy="439020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12" name="PlaceHolder 2"/>
          <p:cNvSpPr>
            <a:spLocks noGrp="1"/>
          </p:cNvSpPr>
          <p:nvPr>
            <p:ph/>
          </p:nvPr>
        </p:nvSpPr>
        <p:spPr>
          <a:xfrm>
            <a:off x="50364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3" name="PlaceHolder 3"/>
          <p:cNvSpPr>
            <a:spLocks noGrp="1"/>
          </p:cNvSpPr>
          <p:nvPr>
            <p:ph/>
          </p:nvPr>
        </p:nvSpPr>
        <p:spPr>
          <a:xfrm>
            <a:off x="5152320" y="1326600"/>
            <a:ext cx="442692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4" name="PlaceHolder 4"/>
          <p:cNvSpPr>
            <a:spLocks noGrp="1"/>
          </p:cNvSpPr>
          <p:nvPr>
            <p:ph/>
          </p:nvPr>
        </p:nvSpPr>
        <p:spPr>
          <a:xfrm>
            <a:off x="503640" y="304452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16" name="PlaceHolder 2"/>
          <p:cNvSpPr>
            <a:spLocks noGrp="1"/>
          </p:cNvSpPr>
          <p:nvPr>
            <p:ph/>
          </p:nvPr>
        </p:nvSpPr>
        <p:spPr>
          <a:xfrm>
            <a:off x="503640" y="1326600"/>
            <a:ext cx="442692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7" name="PlaceHolder 3"/>
          <p:cNvSpPr>
            <a:spLocks noGrp="1"/>
          </p:cNvSpPr>
          <p:nvPr>
            <p:ph/>
          </p:nvPr>
        </p:nvSpPr>
        <p:spPr>
          <a:xfrm>
            <a:off x="515232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8" name="PlaceHolder 4"/>
          <p:cNvSpPr>
            <a:spLocks noGrp="1"/>
          </p:cNvSpPr>
          <p:nvPr>
            <p:ph/>
          </p:nvPr>
        </p:nvSpPr>
        <p:spPr>
          <a:xfrm>
            <a:off x="5152320" y="304452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20" name="PlaceHolder 2"/>
          <p:cNvSpPr>
            <a:spLocks noGrp="1"/>
          </p:cNvSpPr>
          <p:nvPr>
            <p:ph/>
          </p:nvPr>
        </p:nvSpPr>
        <p:spPr>
          <a:xfrm>
            <a:off x="50364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21" name="PlaceHolder 3"/>
          <p:cNvSpPr>
            <a:spLocks noGrp="1"/>
          </p:cNvSpPr>
          <p:nvPr>
            <p:ph/>
          </p:nvPr>
        </p:nvSpPr>
        <p:spPr>
          <a:xfrm>
            <a:off x="515232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22" name="PlaceHolder 4"/>
          <p:cNvSpPr>
            <a:spLocks noGrp="1"/>
          </p:cNvSpPr>
          <p:nvPr>
            <p:ph/>
          </p:nvPr>
        </p:nvSpPr>
        <p:spPr>
          <a:xfrm>
            <a:off x="503640" y="3044520"/>
            <a:ext cx="907200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24" name="PlaceHolder 2"/>
          <p:cNvSpPr>
            <a:spLocks noGrp="1"/>
          </p:cNvSpPr>
          <p:nvPr>
            <p:ph/>
          </p:nvPr>
        </p:nvSpPr>
        <p:spPr>
          <a:xfrm>
            <a:off x="503640" y="1326600"/>
            <a:ext cx="907200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25" name="PlaceHolder 3"/>
          <p:cNvSpPr>
            <a:spLocks noGrp="1"/>
          </p:cNvSpPr>
          <p:nvPr>
            <p:ph/>
          </p:nvPr>
        </p:nvSpPr>
        <p:spPr>
          <a:xfrm>
            <a:off x="503640" y="3044520"/>
            <a:ext cx="907200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27" name="PlaceHolder 2"/>
          <p:cNvSpPr>
            <a:spLocks noGrp="1"/>
          </p:cNvSpPr>
          <p:nvPr>
            <p:ph/>
          </p:nvPr>
        </p:nvSpPr>
        <p:spPr>
          <a:xfrm>
            <a:off x="50364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28" name="PlaceHolder 3"/>
          <p:cNvSpPr>
            <a:spLocks noGrp="1"/>
          </p:cNvSpPr>
          <p:nvPr>
            <p:ph/>
          </p:nvPr>
        </p:nvSpPr>
        <p:spPr>
          <a:xfrm>
            <a:off x="515232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29" name="PlaceHolder 4"/>
          <p:cNvSpPr>
            <a:spLocks noGrp="1"/>
          </p:cNvSpPr>
          <p:nvPr>
            <p:ph/>
          </p:nvPr>
        </p:nvSpPr>
        <p:spPr>
          <a:xfrm>
            <a:off x="503640" y="304452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30" name="PlaceHolder 5"/>
          <p:cNvSpPr>
            <a:spLocks noGrp="1"/>
          </p:cNvSpPr>
          <p:nvPr>
            <p:ph/>
          </p:nvPr>
        </p:nvSpPr>
        <p:spPr>
          <a:xfrm>
            <a:off x="5152320" y="304452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32" name="PlaceHolder 2"/>
          <p:cNvSpPr>
            <a:spLocks noGrp="1"/>
          </p:cNvSpPr>
          <p:nvPr>
            <p:ph/>
          </p:nvPr>
        </p:nvSpPr>
        <p:spPr>
          <a:xfrm>
            <a:off x="503640" y="132660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33" name="PlaceHolder 3"/>
          <p:cNvSpPr>
            <a:spLocks noGrp="1"/>
          </p:cNvSpPr>
          <p:nvPr>
            <p:ph/>
          </p:nvPr>
        </p:nvSpPr>
        <p:spPr>
          <a:xfrm>
            <a:off x="3571200" y="132660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34" name="PlaceHolder 4"/>
          <p:cNvSpPr>
            <a:spLocks noGrp="1"/>
          </p:cNvSpPr>
          <p:nvPr>
            <p:ph/>
          </p:nvPr>
        </p:nvSpPr>
        <p:spPr>
          <a:xfrm>
            <a:off x="6638760" y="132660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35" name="PlaceHolder 5"/>
          <p:cNvSpPr>
            <a:spLocks noGrp="1"/>
          </p:cNvSpPr>
          <p:nvPr>
            <p:ph/>
          </p:nvPr>
        </p:nvSpPr>
        <p:spPr>
          <a:xfrm>
            <a:off x="503640" y="304452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36" name="PlaceHolder 6"/>
          <p:cNvSpPr>
            <a:spLocks noGrp="1"/>
          </p:cNvSpPr>
          <p:nvPr>
            <p:ph/>
          </p:nvPr>
        </p:nvSpPr>
        <p:spPr>
          <a:xfrm>
            <a:off x="3571200" y="304452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37" name="PlaceHolder 7"/>
          <p:cNvSpPr>
            <a:spLocks noGrp="1"/>
          </p:cNvSpPr>
          <p:nvPr>
            <p:ph/>
          </p:nvPr>
        </p:nvSpPr>
        <p:spPr>
          <a:xfrm>
            <a:off x="6638760" y="304452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CA6B3BD5-F49C-4126-BDE8-93BD2F6A2A98}" type="slidenum">
              <a:rPr/>
              <a:pPr/>
              <a:t>‹#›</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3"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44" name="PlaceHolder 2"/>
          <p:cNvSpPr>
            <a:spLocks noGrp="1"/>
          </p:cNvSpPr>
          <p:nvPr>
            <p:ph type="subTitle"/>
          </p:nvPr>
        </p:nvSpPr>
        <p:spPr>
          <a:xfrm>
            <a:off x="503640" y="1326600"/>
            <a:ext cx="9072000" cy="328860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50E7AD1E-8826-473F-9489-7B3F1B20EB46}" type="slidenum">
              <a:rPr/>
              <a:pPr/>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46" name="PlaceHolder 2"/>
          <p:cNvSpPr>
            <a:spLocks noGrp="1"/>
          </p:cNvSpPr>
          <p:nvPr>
            <p:ph/>
          </p:nvPr>
        </p:nvSpPr>
        <p:spPr>
          <a:xfrm>
            <a:off x="503640" y="1326600"/>
            <a:ext cx="907200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C5C61183-FA01-43B6-B89D-FB99F8015516}" type="slidenum">
              <a:rPr/>
              <a:pPr/>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48" name="PlaceHolder 2"/>
          <p:cNvSpPr>
            <a:spLocks noGrp="1"/>
          </p:cNvSpPr>
          <p:nvPr>
            <p:ph/>
          </p:nvPr>
        </p:nvSpPr>
        <p:spPr>
          <a:xfrm>
            <a:off x="503640" y="1326600"/>
            <a:ext cx="442692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49" name="PlaceHolder 3"/>
          <p:cNvSpPr>
            <a:spLocks noGrp="1"/>
          </p:cNvSpPr>
          <p:nvPr>
            <p:ph/>
          </p:nvPr>
        </p:nvSpPr>
        <p:spPr>
          <a:xfrm>
            <a:off x="5152320" y="1326600"/>
            <a:ext cx="442692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5731B0F0-4DDD-4FAD-BA9B-726A5DDAE17D}" type="slidenum">
              <a:rPr/>
              <a:pPr/>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0E995AD3-4911-46BD-B481-63E7435C971F}" type="slidenum">
              <a:rPr/>
              <a:pPr/>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1" name="PlaceHolder 1"/>
          <p:cNvSpPr>
            <a:spLocks noGrp="1"/>
          </p:cNvSpPr>
          <p:nvPr>
            <p:ph type="subTitle"/>
          </p:nvPr>
        </p:nvSpPr>
        <p:spPr>
          <a:xfrm>
            <a:off x="503640" y="226080"/>
            <a:ext cx="9072000" cy="439020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A8DAA6A3-2F19-45C7-B893-E3385FA1A3D6}" type="slidenum">
              <a:rPr/>
              <a:pPr/>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53" name="PlaceHolder 2"/>
          <p:cNvSpPr>
            <a:spLocks noGrp="1"/>
          </p:cNvSpPr>
          <p:nvPr>
            <p:ph/>
          </p:nvPr>
        </p:nvSpPr>
        <p:spPr>
          <a:xfrm>
            <a:off x="50364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54" name="PlaceHolder 3"/>
          <p:cNvSpPr>
            <a:spLocks noGrp="1"/>
          </p:cNvSpPr>
          <p:nvPr>
            <p:ph/>
          </p:nvPr>
        </p:nvSpPr>
        <p:spPr>
          <a:xfrm>
            <a:off x="5152320" y="1326600"/>
            <a:ext cx="442692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55" name="PlaceHolder 4"/>
          <p:cNvSpPr>
            <a:spLocks noGrp="1"/>
          </p:cNvSpPr>
          <p:nvPr>
            <p:ph/>
          </p:nvPr>
        </p:nvSpPr>
        <p:spPr>
          <a:xfrm>
            <a:off x="503640" y="304452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818E507A-16F0-45B1-B375-BB2AF658240D}" type="slidenum">
              <a:rPr/>
              <a:pPr/>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57" name="PlaceHolder 2"/>
          <p:cNvSpPr>
            <a:spLocks noGrp="1"/>
          </p:cNvSpPr>
          <p:nvPr>
            <p:ph/>
          </p:nvPr>
        </p:nvSpPr>
        <p:spPr>
          <a:xfrm>
            <a:off x="503640" y="1326600"/>
            <a:ext cx="442692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58" name="PlaceHolder 3"/>
          <p:cNvSpPr>
            <a:spLocks noGrp="1"/>
          </p:cNvSpPr>
          <p:nvPr>
            <p:ph/>
          </p:nvPr>
        </p:nvSpPr>
        <p:spPr>
          <a:xfrm>
            <a:off x="515232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59" name="PlaceHolder 4"/>
          <p:cNvSpPr>
            <a:spLocks noGrp="1"/>
          </p:cNvSpPr>
          <p:nvPr>
            <p:ph/>
          </p:nvPr>
        </p:nvSpPr>
        <p:spPr>
          <a:xfrm>
            <a:off x="5152320" y="304452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B6CF78CF-80C8-4F89-8E57-1D20389A0D05}" type="slidenum">
              <a:rPr/>
              <a:pPr/>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61" name="PlaceHolder 2"/>
          <p:cNvSpPr>
            <a:spLocks noGrp="1"/>
          </p:cNvSpPr>
          <p:nvPr>
            <p:ph/>
          </p:nvPr>
        </p:nvSpPr>
        <p:spPr>
          <a:xfrm>
            <a:off x="50364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62" name="PlaceHolder 3"/>
          <p:cNvSpPr>
            <a:spLocks noGrp="1"/>
          </p:cNvSpPr>
          <p:nvPr>
            <p:ph/>
          </p:nvPr>
        </p:nvSpPr>
        <p:spPr>
          <a:xfrm>
            <a:off x="515232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63" name="PlaceHolder 4"/>
          <p:cNvSpPr>
            <a:spLocks noGrp="1"/>
          </p:cNvSpPr>
          <p:nvPr>
            <p:ph/>
          </p:nvPr>
        </p:nvSpPr>
        <p:spPr>
          <a:xfrm>
            <a:off x="503640" y="3044520"/>
            <a:ext cx="907200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618326CD-D902-493F-A10F-E3D5941FFFF1}" type="slidenum">
              <a:rPr/>
              <a:pPr/>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65" name="PlaceHolder 2"/>
          <p:cNvSpPr>
            <a:spLocks noGrp="1"/>
          </p:cNvSpPr>
          <p:nvPr>
            <p:ph/>
          </p:nvPr>
        </p:nvSpPr>
        <p:spPr>
          <a:xfrm>
            <a:off x="503640" y="1326600"/>
            <a:ext cx="907200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66" name="PlaceHolder 3"/>
          <p:cNvSpPr>
            <a:spLocks noGrp="1"/>
          </p:cNvSpPr>
          <p:nvPr>
            <p:ph/>
          </p:nvPr>
        </p:nvSpPr>
        <p:spPr>
          <a:xfrm>
            <a:off x="503640" y="3044520"/>
            <a:ext cx="907200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5478E040-D149-4E01-B6FC-3F7993F62CE3}" type="slidenum">
              <a:rPr/>
              <a:pPr/>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68" name="PlaceHolder 2"/>
          <p:cNvSpPr>
            <a:spLocks noGrp="1"/>
          </p:cNvSpPr>
          <p:nvPr>
            <p:ph/>
          </p:nvPr>
        </p:nvSpPr>
        <p:spPr>
          <a:xfrm>
            <a:off x="50364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69" name="PlaceHolder 3"/>
          <p:cNvSpPr>
            <a:spLocks noGrp="1"/>
          </p:cNvSpPr>
          <p:nvPr>
            <p:ph/>
          </p:nvPr>
        </p:nvSpPr>
        <p:spPr>
          <a:xfrm>
            <a:off x="515232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70" name="PlaceHolder 4"/>
          <p:cNvSpPr>
            <a:spLocks noGrp="1"/>
          </p:cNvSpPr>
          <p:nvPr>
            <p:ph/>
          </p:nvPr>
        </p:nvSpPr>
        <p:spPr>
          <a:xfrm>
            <a:off x="503640" y="304452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71" name="PlaceHolder 5"/>
          <p:cNvSpPr>
            <a:spLocks noGrp="1"/>
          </p:cNvSpPr>
          <p:nvPr>
            <p:ph/>
          </p:nvPr>
        </p:nvSpPr>
        <p:spPr>
          <a:xfrm>
            <a:off x="5152320" y="304452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7" name="PlaceHolder 6"/>
          <p:cNvSpPr>
            <a:spLocks noGrp="1"/>
          </p:cNvSpPr>
          <p:nvPr>
            <p:ph type="ftr" idx="1"/>
          </p:nvPr>
        </p:nvSpPr>
        <p:spPr/>
        <p:txBody>
          <a:bodyPr/>
          <a:lstStyle/>
          <a:p>
            <a:r>
              <a:t>Footer</a:t>
            </a:r>
          </a:p>
        </p:txBody>
      </p:sp>
      <p:sp>
        <p:nvSpPr>
          <p:cNvPr id="8" name="PlaceHolder 7"/>
          <p:cNvSpPr>
            <a:spLocks noGrp="1"/>
          </p:cNvSpPr>
          <p:nvPr>
            <p:ph type="sldNum" idx="2"/>
          </p:nvPr>
        </p:nvSpPr>
        <p:spPr/>
        <p:txBody>
          <a:bodyPr/>
          <a:lstStyle/>
          <a:p>
            <a:fld id="{47B5BF8B-D432-4A0B-B1FA-35EE2C64B852}" type="slidenum">
              <a:rPr/>
              <a:pPr/>
              <a:t>‹#›</a:t>
            </a:fld>
            <a:endParaRPr/>
          </a:p>
        </p:txBody>
      </p:sp>
      <p:sp>
        <p:nvSpPr>
          <p:cNvPr id="9" name="PlaceHolder 8"/>
          <p:cNvSpPr>
            <a:spLocks noGrp="1"/>
          </p:cNvSpPr>
          <p:nvPr>
            <p:ph type="dt" idx="3"/>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73" name="PlaceHolder 2"/>
          <p:cNvSpPr>
            <a:spLocks noGrp="1"/>
          </p:cNvSpPr>
          <p:nvPr>
            <p:ph/>
          </p:nvPr>
        </p:nvSpPr>
        <p:spPr>
          <a:xfrm>
            <a:off x="503640" y="132660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74" name="PlaceHolder 3"/>
          <p:cNvSpPr>
            <a:spLocks noGrp="1"/>
          </p:cNvSpPr>
          <p:nvPr>
            <p:ph/>
          </p:nvPr>
        </p:nvSpPr>
        <p:spPr>
          <a:xfrm>
            <a:off x="3571200" y="132660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75" name="PlaceHolder 4"/>
          <p:cNvSpPr>
            <a:spLocks noGrp="1"/>
          </p:cNvSpPr>
          <p:nvPr>
            <p:ph/>
          </p:nvPr>
        </p:nvSpPr>
        <p:spPr>
          <a:xfrm>
            <a:off x="6638760" y="132660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76" name="PlaceHolder 5"/>
          <p:cNvSpPr>
            <a:spLocks noGrp="1"/>
          </p:cNvSpPr>
          <p:nvPr>
            <p:ph/>
          </p:nvPr>
        </p:nvSpPr>
        <p:spPr>
          <a:xfrm>
            <a:off x="503640" y="304452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77" name="PlaceHolder 6"/>
          <p:cNvSpPr>
            <a:spLocks noGrp="1"/>
          </p:cNvSpPr>
          <p:nvPr>
            <p:ph/>
          </p:nvPr>
        </p:nvSpPr>
        <p:spPr>
          <a:xfrm>
            <a:off x="3571200" y="304452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78" name="PlaceHolder 7"/>
          <p:cNvSpPr>
            <a:spLocks noGrp="1"/>
          </p:cNvSpPr>
          <p:nvPr>
            <p:ph/>
          </p:nvPr>
        </p:nvSpPr>
        <p:spPr>
          <a:xfrm>
            <a:off x="6638760" y="304452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9" name="PlaceHolder 8"/>
          <p:cNvSpPr>
            <a:spLocks noGrp="1"/>
          </p:cNvSpPr>
          <p:nvPr>
            <p:ph type="ftr" idx="1"/>
          </p:nvPr>
        </p:nvSpPr>
        <p:spPr/>
        <p:txBody>
          <a:bodyPr/>
          <a:lstStyle/>
          <a:p>
            <a:r>
              <a:t>Footer</a:t>
            </a:r>
          </a:p>
        </p:txBody>
      </p:sp>
      <p:sp>
        <p:nvSpPr>
          <p:cNvPr id="10" name="PlaceHolder 9"/>
          <p:cNvSpPr>
            <a:spLocks noGrp="1"/>
          </p:cNvSpPr>
          <p:nvPr>
            <p:ph type="sldNum" idx="2"/>
          </p:nvPr>
        </p:nvSpPr>
        <p:spPr/>
        <p:txBody>
          <a:bodyPr/>
          <a:lstStyle/>
          <a:p>
            <a:fld id="{281DE900-D060-4AA4-8C89-59D240004644}" type="slidenum">
              <a:rPr/>
              <a:pPr/>
              <a:t>‹#›</a:t>
            </a:fld>
            <a:endParaRPr/>
          </a:p>
        </p:txBody>
      </p:sp>
      <p:sp>
        <p:nvSpPr>
          <p:cNvPr id="11" name="PlaceHolder 10"/>
          <p:cNvSpPr>
            <a:spLocks noGrp="1"/>
          </p:cNvSpPr>
          <p:nvPr>
            <p:ph type="dt" idx="3"/>
          </p:nvPr>
        </p:nvSpPr>
        <p:spPr/>
        <p:txBody>
          <a:body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1"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82" name="PlaceHolder 2"/>
          <p:cNvSpPr>
            <a:spLocks noGrp="1"/>
          </p:cNvSpPr>
          <p:nvPr>
            <p:ph type="subTitle"/>
          </p:nvPr>
        </p:nvSpPr>
        <p:spPr>
          <a:xfrm>
            <a:off x="503640" y="1326600"/>
            <a:ext cx="9072000" cy="328860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84" name="PlaceHolder 2"/>
          <p:cNvSpPr>
            <a:spLocks noGrp="1"/>
          </p:cNvSpPr>
          <p:nvPr>
            <p:ph/>
          </p:nvPr>
        </p:nvSpPr>
        <p:spPr>
          <a:xfrm>
            <a:off x="503640" y="1326600"/>
            <a:ext cx="907200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86" name="PlaceHolder 2"/>
          <p:cNvSpPr>
            <a:spLocks noGrp="1"/>
          </p:cNvSpPr>
          <p:nvPr>
            <p:ph/>
          </p:nvPr>
        </p:nvSpPr>
        <p:spPr>
          <a:xfrm>
            <a:off x="503640" y="1326600"/>
            <a:ext cx="442692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87" name="PlaceHolder 3"/>
          <p:cNvSpPr>
            <a:spLocks noGrp="1"/>
          </p:cNvSpPr>
          <p:nvPr>
            <p:ph/>
          </p:nvPr>
        </p:nvSpPr>
        <p:spPr>
          <a:xfrm>
            <a:off x="5152320" y="1326600"/>
            <a:ext cx="442692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8"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9" name="PlaceHolder 1"/>
          <p:cNvSpPr>
            <a:spLocks noGrp="1"/>
          </p:cNvSpPr>
          <p:nvPr>
            <p:ph type="subTitle"/>
          </p:nvPr>
        </p:nvSpPr>
        <p:spPr>
          <a:xfrm>
            <a:off x="503640" y="226080"/>
            <a:ext cx="9072000" cy="439020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0"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91" name="PlaceHolder 2"/>
          <p:cNvSpPr>
            <a:spLocks noGrp="1"/>
          </p:cNvSpPr>
          <p:nvPr>
            <p:ph/>
          </p:nvPr>
        </p:nvSpPr>
        <p:spPr>
          <a:xfrm>
            <a:off x="50364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92" name="PlaceHolder 3"/>
          <p:cNvSpPr>
            <a:spLocks noGrp="1"/>
          </p:cNvSpPr>
          <p:nvPr>
            <p:ph/>
          </p:nvPr>
        </p:nvSpPr>
        <p:spPr>
          <a:xfrm>
            <a:off x="5152320" y="1326600"/>
            <a:ext cx="442692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93" name="PlaceHolder 4"/>
          <p:cNvSpPr>
            <a:spLocks noGrp="1"/>
          </p:cNvSpPr>
          <p:nvPr>
            <p:ph/>
          </p:nvPr>
        </p:nvSpPr>
        <p:spPr>
          <a:xfrm>
            <a:off x="503640" y="304452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95" name="PlaceHolder 2"/>
          <p:cNvSpPr>
            <a:spLocks noGrp="1"/>
          </p:cNvSpPr>
          <p:nvPr>
            <p:ph/>
          </p:nvPr>
        </p:nvSpPr>
        <p:spPr>
          <a:xfrm>
            <a:off x="503640" y="1326600"/>
            <a:ext cx="442692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96" name="PlaceHolder 3"/>
          <p:cNvSpPr>
            <a:spLocks noGrp="1"/>
          </p:cNvSpPr>
          <p:nvPr>
            <p:ph/>
          </p:nvPr>
        </p:nvSpPr>
        <p:spPr>
          <a:xfrm>
            <a:off x="515232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97" name="PlaceHolder 4"/>
          <p:cNvSpPr>
            <a:spLocks noGrp="1"/>
          </p:cNvSpPr>
          <p:nvPr>
            <p:ph/>
          </p:nvPr>
        </p:nvSpPr>
        <p:spPr>
          <a:xfrm>
            <a:off x="5152320" y="304452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99" name="PlaceHolder 2"/>
          <p:cNvSpPr>
            <a:spLocks noGrp="1"/>
          </p:cNvSpPr>
          <p:nvPr>
            <p:ph/>
          </p:nvPr>
        </p:nvSpPr>
        <p:spPr>
          <a:xfrm>
            <a:off x="50364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00" name="PlaceHolder 3"/>
          <p:cNvSpPr>
            <a:spLocks noGrp="1"/>
          </p:cNvSpPr>
          <p:nvPr>
            <p:ph/>
          </p:nvPr>
        </p:nvSpPr>
        <p:spPr>
          <a:xfrm>
            <a:off x="515232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01" name="PlaceHolder 4"/>
          <p:cNvSpPr>
            <a:spLocks noGrp="1"/>
          </p:cNvSpPr>
          <p:nvPr>
            <p:ph/>
          </p:nvPr>
        </p:nvSpPr>
        <p:spPr>
          <a:xfrm>
            <a:off x="503640" y="3044520"/>
            <a:ext cx="907200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103" name="PlaceHolder 2"/>
          <p:cNvSpPr>
            <a:spLocks noGrp="1"/>
          </p:cNvSpPr>
          <p:nvPr>
            <p:ph/>
          </p:nvPr>
        </p:nvSpPr>
        <p:spPr>
          <a:xfrm>
            <a:off x="503640" y="1326600"/>
            <a:ext cx="907200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04" name="PlaceHolder 3"/>
          <p:cNvSpPr>
            <a:spLocks noGrp="1"/>
          </p:cNvSpPr>
          <p:nvPr>
            <p:ph/>
          </p:nvPr>
        </p:nvSpPr>
        <p:spPr>
          <a:xfrm>
            <a:off x="503640" y="3044520"/>
            <a:ext cx="907200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106" name="PlaceHolder 2"/>
          <p:cNvSpPr>
            <a:spLocks noGrp="1"/>
          </p:cNvSpPr>
          <p:nvPr>
            <p:ph/>
          </p:nvPr>
        </p:nvSpPr>
        <p:spPr>
          <a:xfrm>
            <a:off x="50364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07" name="PlaceHolder 3"/>
          <p:cNvSpPr>
            <a:spLocks noGrp="1"/>
          </p:cNvSpPr>
          <p:nvPr>
            <p:ph/>
          </p:nvPr>
        </p:nvSpPr>
        <p:spPr>
          <a:xfrm>
            <a:off x="515232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08" name="PlaceHolder 4"/>
          <p:cNvSpPr>
            <a:spLocks noGrp="1"/>
          </p:cNvSpPr>
          <p:nvPr>
            <p:ph/>
          </p:nvPr>
        </p:nvSpPr>
        <p:spPr>
          <a:xfrm>
            <a:off x="503640" y="304452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09" name="PlaceHolder 5"/>
          <p:cNvSpPr>
            <a:spLocks noGrp="1"/>
          </p:cNvSpPr>
          <p:nvPr>
            <p:ph/>
          </p:nvPr>
        </p:nvSpPr>
        <p:spPr>
          <a:xfrm>
            <a:off x="5152320" y="304452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111" name="PlaceHolder 2"/>
          <p:cNvSpPr>
            <a:spLocks noGrp="1"/>
          </p:cNvSpPr>
          <p:nvPr>
            <p:ph/>
          </p:nvPr>
        </p:nvSpPr>
        <p:spPr>
          <a:xfrm>
            <a:off x="503640" y="132660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12" name="PlaceHolder 3"/>
          <p:cNvSpPr>
            <a:spLocks noGrp="1"/>
          </p:cNvSpPr>
          <p:nvPr>
            <p:ph/>
          </p:nvPr>
        </p:nvSpPr>
        <p:spPr>
          <a:xfrm>
            <a:off x="3571200" y="132660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13" name="PlaceHolder 4"/>
          <p:cNvSpPr>
            <a:spLocks noGrp="1"/>
          </p:cNvSpPr>
          <p:nvPr>
            <p:ph/>
          </p:nvPr>
        </p:nvSpPr>
        <p:spPr>
          <a:xfrm>
            <a:off x="6638760" y="132660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14" name="PlaceHolder 5"/>
          <p:cNvSpPr>
            <a:spLocks noGrp="1"/>
          </p:cNvSpPr>
          <p:nvPr>
            <p:ph/>
          </p:nvPr>
        </p:nvSpPr>
        <p:spPr>
          <a:xfrm>
            <a:off x="503640" y="304452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15" name="PlaceHolder 6"/>
          <p:cNvSpPr>
            <a:spLocks noGrp="1"/>
          </p:cNvSpPr>
          <p:nvPr>
            <p:ph/>
          </p:nvPr>
        </p:nvSpPr>
        <p:spPr>
          <a:xfrm>
            <a:off x="3571200" y="304452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16" name="PlaceHolder 7"/>
          <p:cNvSpPr>
            <a:spLocks noGrp="1"/>
          </p:cNvSpPr>
          <p:nvPr>
            <p:ph/>
          </p:nvPr>
        </p:nvSpPr>
        <p:spPr>
          <a:xfrm>
            <a:off x="6638760" y="304452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226080"/>
            <a:ext cx="9071640" cy="946080"/>
          </a:xfrm>
          <a:prstGeom prst="rect">
            <a:avLst/>
          </a:prstGeom>
          <a:noFill/>
          <a:ln w="0">
            <a:noFill/>
          </a:ln>
        </p:spPr>
        <p:txBody>
          <a:bodyPr lIns="0" tIns="0" rIns="0" bIns="0" anchor="ctr">
            <a:noAutofit/>
          </a:bodyPr>
          <a:lstStyle/>
          <a:p>
            <a:pPr indent="0">
              <a:buNone/>
            </a:pPr>
            <a:r>
              <a:rPr lang="en-IN" sz="1800" b="0" strike="noStrike" spc="-1">
                <a:solidFill>
                  <a:srgbClr val="000000"/>
                </a:solidFill>
                <a:latin typeface="Arial"/>
              </a:rPr>
              <a:t>Click to edit the title text format</a:t>
            </a:r>
          </a:p>
        </p:txBody>
      </p:sp>
      <p:sp>
        <p:nvSpPr>
          <p:cNvPr id="3" name="PlaceHolder 2"/>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8" name="PlaceHolder 1"/>
          <p:cNvSpPr>
            <a:spLocks noGrp="1"/>
          </p:cNvSpPr>
          <p:nvPr>
            <p:ph type="ftr" idx="1"/>
          </p:nvPr>
        </p:nvSpPr>
        <p:spPr>
          <a:xfrm>
            <a:off x="3447360" y="5165280"/>
            <a:ext cx="3193920" cy="389520"/>
          </a:xfrm>
          <a:prstGeom prst="rect">
            <a:avLst/>
          </a:prstGeom>
          <a:noFill/>
          <a:ln w="0">
            <a:noFill/>
          </a:ln>
        </p:spPr>
        <p:txBody>
          <a:bodyPr lIns="0" tIns="0" rIns="0" bIns="0" anchor="t">
            <a:noAutofit/>
          </a:bodyPr>
          <a:lstStyle>
            <a:lvl1pPr indent="0" algn="ctr">
              <a:lnSpc>
                <a:spcPct val="100000"/>
              </a:lnSpc>
              <a:buNone/>
              <a:tabLst>
                <a:tab pos="0" algn="l"/>
              </a:tabLst>
              <a:defRPr lang="en-IN" sz="1400" b="0" strike="noStrike" spc="-1">
                <a:solidFill>
                  <a:srgbClr val="000000"/>
                </a:solidFill>
                <a:latin typeface="Times New Roman"/>
              </a:defRPr>
            </a:lvl1pPr>
          </a:lstStyle>
          <a:p>
            <a:pPr indent="0" algn="ctr">
              <a:lnSpc>
                <a:spcPct val="100000"/>
              </a:lnSpc>
              <a:buNone/>
              <a:tabLst>
                <a:tab pos="0" algn="l"/>
              </a:tabLst>
            </a:pPr>
            <a:r>
              <a:rPr lang="en-IN" sz="1400" b="0" strike="noStrike" spc="-1">
                <a:solidFill>
                  <a:srgbClr val="000000"/>
                </a:solidFill>
                <a:latin typeface="Times New Roman"/>
              </a:rPr>
              <a:t>&lt;footer&gt;</a:t>
            </a:r>
          </a:p>
        </p:txBody>
      </p:sp>
      <p:sp>
        <p:nvSpPr>
          <p:cNvPr id="39" name="PlaceHolder 2"/>
          <p:cNvSpPr>
            <a:spLocks noGrp="1"/>
          </p:cNvSpPr>
          <p:nvPr>
            <p:ph type="sldNum" idx="2"/>
          </p:nvPr>
        </p:nvSpPr>
        <p:spPr>
          <a:xfrm>
            <a:off x="7227360" y="5165280"/>
            <a:ext cx="2347200" cy="389520"/>
          </a:xfrm>
          <a:prstGeom prst="rect">
            <a:avLst/>
          </a:prstGeom>
          <a:noFill/>
          <a:ln w="0">
            <a:noFill/>
          </a:ln>
        </p:spPr>
        <p:txBody>
          <a:bodyPr lIns="0" tIns="0" rIns="0" bIns="0" anchor="t">
            <a:noAutofit/>
          </a:bodyPr>
          <a:lstStyle>
            <a:lvl1pPr indent="0" algn="r">
              <a:lnSpc>
                <a:spcPct val="100000"/>
              </a:lnSpc>
              <a:buNone/>
              <a:tabLst>
                <a:tab pos="0" algn="l"/>
              </a:tabLst>
              <a:defRPr lang="en-IN" sz="1400" b="0" strike="noStrike" spc="-1">
                <a:solidFill>
                  <a:srgbClr val="000000"/>
                </a:solidFill>
                <a:latin typeface="Times New Roman"/>
              </a:defRPr>
            </a:lvl1pPr>
          </a:lstStyle>
          <a:p>
            <a:pPr indent="0" algn="r">
              <a:lnSpc>
                <a:spcPct val="100000"/>
              </a:lnSpc>
              <a:buNone/>
              <a:tabLst>
                <a:tab pos="0" algn="l"/>
              </a:tabLst>
            </a:pPr>
            <a:fld id="{A8048C1A-2F8E-490E-BA68-AFC7BD3B4659}" type="slidenum">
              <a:rPr lang="en-IN" sz="1400" b="0" strike="noStrike" spc="-1">
                <a:solidFill>
                  <a:srgbClr val="000000"/>
                </a:solidFill>
                <a:latin typeface="Times New Roman"/>
              </a:rPr>
              <a:pPr indent="0" algn="r">
                <a:lnSpc>
                  <a:spcPct val="100000"/>
                </a:lnSpc>
                <a:buNone/>
                <a:tabLst>
                  <a:tab pos="0" algn="l"/>
                </a:tabLst>
              </a:pPr>
              <a:t>‹#›</a:t>
            </a:fld>
            <a:endParaRPr lang="en-IN" sz="1400" b="0" strike="noStrike" spc="-1">
              <a:solidFill>
                <a:srgbClr val="000000"/>
              </a:solidFill>
              <a:latin typeface="Times New Roman"/>
            </a:endParaRPr>
          </a:p>
        </p:txBody>
      </p:sp>
      <p:sp>
        <p:nvSpPr>
          <p:cNvPr id="40" name="PlaceHolder 3"/>
          <p:cNvSpPr>
            <a:spLocks noGrp="1"/>
          </p:cNvSpPr>
          <p:nvPr>
            <p:ph type="dt" idx="3"/>
          </p:nvPr>
        </p:nvSpPr>
        <p:spPr>
          <a:xfrm>
            <a:off x="504000" y="5165280"/>
            <a:ext cx="2347200" cy="389520"/>
          </a:xfrm>
          <a:prstGeom prst="rect">
            <a:avLst/>
          </a:prstGeom>
          <a:noFill/>
          <a:ln w="0">
            <a:noFill/>
          </a:ln>
        </p:spPr>
        <p:txBody>
          <a:bodyPr lIns="0" tIns="0" rIns="0" bIns="0" anchor="t">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&lt;date/time&gt;</a:t>
            </a:r>
          </a:p>
        </p:txBody>
      </p:sp>
      <p:sp>
        <p:nvSpPr>
          <p:cNvPr id="41" name="PlaceHolder 4"/>
          <p:cNvSpPr>
            <a:spLocks noGrp="1"/>
          </p:cNvSpPr>
          <p:nvPr>
            <p:ph type="title"/>
          </p:nvPr>
        </p:nvSpPr>
        <p:spPr>
          <a:xfrm>
            <a:off x="504000" y="226080"/>
            <a:ext cx="9072000" cy="94644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42" name="PlaceHolder 5"/>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9"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80" name="PlaceHolder 2"/>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64E14A40-CD6A-62EE-86C8-991B54F95172}"/>
              </a:ext>
            </a:extLst>
          </p:cNvPr>
          <p:cNvSpPr txBox="1"/>
          <p:nvPr/>
        </p:nvSpPr>
        <p:spPr>
          <a:xfrm>
            <a:off x="828154" y="1984597"/>
            <a:ext cx="8458200" cy="1841466"/>
          </a:xfrm>
          <a:prstGeom prst="rect">
            <a:avLst/>
          </a:prstGeom>
          <a:noFill/>
        </p:spPr>
        <p:txBody>
          <a:bodyPr wrap="square">
            <a:spAutoFit/>
          </a:bodyPr>
          <a:lstStyle/>
          <a:p>
            <a:pPr algn="ctr">
              <a:lnSpc>
                <a:spcPct val="107000"/>
              </a:lnSpc>
              <a:spcAft>
                <a:spcPts val="800"/>
              </a:spcAft>
            </a:pPr>
            <a:r>
              <a:rPr lang="en-IN" sz="3600" b="1" dirty="0" err="1" smtClean="0">
                <a:latin typeface="Times New Roman"/>
                <a:ea typeface="Calibri"/>
                <a:cs typeface="Times New Roman"/>
              </a:rPr>
              <a:t>DeepDiabetic</a:t>
            </a:r>
            <a:r>
              <a:rPr lang="en-IN" sz="3600" b="1" dirty="0" smtClean="0">
                <a:latin typeface="Times New Roman"/>
                <a:ea typeface="Calibri"/>
                <a:cs typeface="Times New Roman"/>
              </a:rPr>
              <a:t>: An Identification System of Diabetic Eye Diseases Using Deep Neural Networks</a:t>
            </a:r>
            <a:endParaRPr lang="en-US" sz="2000" dirty="0">
              <a:latin typeface="Calibri"/>
              <a:ea typeface="Calibri"/>
              <a:cs typeface="Times New Roman"/>
            </a:endParaRPr>
          </a:p>
        </p:txBody>
      </p:sp>
    </p:spTree>
    <p:extLst>
      <p:ext uri="{BB962C8B-B14F-4D97-AF65-F5344CB8AC3E}">
        <p14:creationId xmlns="" xmlns:p14="http://schemas.microsoft.com/office/powerpoint/2010/main" val="757776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CustomShape 4"/>
          <p:cNvSpPr/>
          <p:nvPr/>
        </p:nvSpPr>
        <p:spPr>
          <a:xfrm>
            <a:off x="0" y="136138"/>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2800" b="0" strike="noStrike" spc="-1" dirty="0">
                <a:solidFill>
                  <a:srgbClr val="000000"/>
                </a:solidFill>
                <a:latin typeface="Times New Roman" panose="02020603050405020304" pitchFamily="18" charset="0"/>
                <a:ea typeface="DejaVu Sans"/>
                <a:cs typeface="Times New Roman" panose="02020603050405020304" pitchFamily="18" charset="0"/>
              </a:rPr>
              <a:t>Abstract</a:t>
            </a:r>
            <a:endParaRPr lang="en-IN" sz="28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 xmlns:a16="http://schemas.microsoft.com/office/drawing/2014/main" id="{84D1E9ED-49DA-4226-F38F-5F6CDD7DEDE1}"/>
              </a:ext>
            </a:extLst>
          </p:cNvPr>
          <p:cNvSpPr>
            <a:spLocks noChangeArrowheads="1"/>
          </p:cNvSpPr>
          <p:nvPr/>
        </p:nvSpPr>
        <p:spPr bwMode="auto">
          <a:xfrm>
            <a:off x="693599" y="977838"/>
            <a:ext cx="8693426" cy="424731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spcAft>
                <a:spcPts val="800"/>
              </a:spcAft>
            </a:pPr>
            <a:r>
              <a:rPr lang="en-IN" sz="2000" dirty="0" smtClean="0">
                <a:latin typeface="Times New Roman"/>
                <a:ea typeface="Calibri"/>
                <a:cs typeface="Times New Roman"/>
              </a:rPr>
              <a:t>Diabetic eye diseases, such as diabetic retinopathy, are leading causes of vision impairment worldwide, necessitating early and accurate diagnosis. This paper presents </a:t>
            </a:r>
            <a:r>
              <a:rPr lang="en-IN" sz="2000" b="1" dirty="0" err="1" smtClean="0">
                <a:latin typeface="Times New Roman"/>
                <a:ea typeface="Calibri"/>
                <a:cs typeface="Times New Roman"/>
              </a:rPr>
              <a:t>DeepDiabetic</a:t>
            </a:r>
            <a:r>
              <a:rPr lang="en-IN" sz="2000" dirty="0" smtClean="0">
                <a:latin typeface="Times New Roman"/>
                <a:ea typeface="Calibri"/>
                <a:cs typeface="Times New Roman"/>
              </a:rPr>
              <a:t>, an automated identification system designed to detect diabetic eye diseases from retinal images using deep neural networks. By leveraging advanced </a:t>
            </a:r>
            <a:r>
              <a:rPr lang="en-IN" sz="2000" dirty="0" err="1" smtClean="0">
                <a:latin typeface="Times New Roman"/>
                <a:ea typeface="Calibri"/>
                <a:cs typeface="Times New Roman"/>
              </a:rPr>
              <a:t>convolutional</a:t>
            </a:r>
            <a:r>
              <a:rPr lang="en-IN" sz="2000" dirty="0" smtClean="0">
                <a:latin typeface="Times New Roman"/>
                <a:ea typeface="Calibri"/>
                <a:cs typeface="Times New Roman"/>
              </a:rPr>
              <a:t> neural network (CNN) architectures, </a:t>
            </a:r>
            <a:r>
              <a:rPr lang="en-IN" sz="2000" dirty="0" err="1" smtClean="0">
                <a:latin typeface="Times New Roman"/>
                <a:ea typeface="Calibri"/>
                <a:cs typeface="Times New Roman"/>
              </a:rPr>
              <a:t>DeepDiabetic</a:t>
            </a:r>
            <a:r>
              <a:rPr lang="en-IN" sz="2000" dirty="0" smtClean="0">
                <a:latin typeface="Times New Roman"/>
                <a:ea typeface="Calibri"/>
                <a:cs typeface="Times New Roman"/>
              </a:rPr>
              <a:t> analyzes </a:t>
            </a:r>
            <a:r>
              <a:rPr lang="en-IN" sz="2000" dirty="0" err="1" smtClean="0">
                <a:latin typeface="Times New Roman"/>
                <a:ea typeface="Calibri"/>
                <a:cs typeface="Times New Roman"/>
              </a:rPr>
              <a:t>fundus</a:t>
            </a:r>
            <a:r>
              <a:rPr lang="en-IN" sz="2000" dirty="0" smtClean="0">
                <a:latin typeface="Times New Roman"/>
                <a:ea typeface="Calibri"/>
                <a:cs typeface="Times New Roman"/>
              </a:rPr>
              <a:t> images to classify and identify disease stages with high accuracy and efficiency. Experimental results demonstrate that the system achieves robust performance in distinguishing diabetic eye conditions, enabling timely intervention and improving patient outcomes</a:t>
            </a:r>
            <a:r>
              <a:rPr lang="en-IN" sz="2000" dirty="0" smtClean="0">
                <a:latin typeface="Times New Roman"/>
                <a:ea typeface="Calibri"/>
                <a:cs typeface="Times New Roman"/>
              </a:rPr>
              <a:t>.</a:t>
            </a:r>
            <a:endParaRPr lang="en-US" sz="1600" dirty="0">
              <a:latin typeface="Calibri"/>
              <a:ea typeface="Calibri"/>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9247" y="363070"/>
            <a:ext cx="2232212" cy="523220"/>
          </a:xfrm>
          <a:prstGeom prst="rect">
            <a:avLst/>
          </a:prstGeom>
          <a:noFill/>
        </p:spPr>
        <p:txBody>
          <a:bodyPr wrap="square" rtlCol="0">
            <a:spAutoFit/>
          </a:bodyPr>
          <a:lstStyle/>
          <a:p>
            <a:r>
              <a:rPr lang="en-IN" sz="2800" b="1" dirty="0" smtClean="0">
                <a:latin typeface="Times New Roman" pitchFamily="18" charset="0"/>
                <a:cs typeface="Times New Roman" pitchFamily="18" charset="0"/>
              </a:rPr>
              <a:t>Introduction</a:t>
            </a:r>
            <a:endParaRPr lang="en-US" sz="2800" b="1" dirty="0">
              <a:latin typeface="Times New Roman" pitchFamily="18" charset="0"/>
              <a:cs typeface="Times New Roman" pitchFamily="18" charset="0"/>
            </a:endParaRPr>
          </a:p>
        </p:txBody>
      </p:sp>
      <p:sp>
        <p:nvSpPr>
          <p:cNvPr id="3" name="TextBox 2"/>
          <p:cNvSpPr txBox="1"/>
          <p:nvPr/>
        </p:nvSpPr>
        <p:spPr>
          <a:xfrm>
            <a:off x="739588" y="941296"/>
            <a:ext cx="8915400" cy="3934410"/>
          </a:xfrm>
          <a:prstGeom prst="rect">
            <a:avLst/>
          </a:prstGeom>
          <a:noFill/>
        </p:spPr>
        <p:txBody>
          <a:bodyPr wrap="square" rtlCol="0">
            <a:spAutoFit/>
          </a:bodyPr>
          <a:lstStyle/>
          <a:p>
            <a:pPr algn="just">
              <a:lnSpc>
                <a:spcPct val="150000"/>
              </a:lnSpc>
              <a:spcAft>
                <a:spcPts val="800"/>
              </a:spcAft>
            </a:pPr>
            <a:r>
              <a:rPr lang="en-US" dirty="0" smtClean="0">
                <a:latin typeface="Times New Roman"/>
                <a:ea typeface="Calibri"/>
                <a:cs typeface="Times New Roman"/>
              </a:rPr>
              <a:t>Diabetic eye diseases, including diabetic retinopathy and diabetic macular edema, are among the leading causes of vision impairment and blindness worldwide. Early detection and accurate diagnosis are critical to preventing severe vision loss and improving patient outcomes. However, manual diagnosis through </a:t>
            </a:r>
            <a:r>
              <a:rPr lang="en-US" dirty="0" err="1" smtClean="0">
                <a:latin typeface="Times New Roman"/>
                <a:ea typeface="Calibri"/>
                <a:cs typeface="Times New Roman"/>
              </a:rPr>
              <a:t>fundus</a:t>
            </a:r>
            <a:r>
              <a:rPr lang="en-US" dirty="0" smtClean="0">
                <a:latin typeface="Times New Roman"/>
                <a:ea typeface="Calibri"/>
                <a:cs typeface="Times New Roman"/>
              </a:rPr>
              <a:t> examination is often time-consuming, requires specialized expertise, and is prone to subjective variability.</a:t>
            </a:r>
            <a:endParaRPr lang="en-US" sz="1400" dirty="0" smtClean="0">
              <a:latin typeface="Calibri"/>
              <a:ea typeface="Calibri"/>
              <a:cs typeface="Times New Roman"/>
            </a:endParaRPr>
          </a:p>
          <a:p>
            <a:pPr algn="just">
              <a:lnSpc>
                <a:spcPct val="150000"/>
              </a:lnSpc>
              <a:spcAft>
                <a:spcPts val="800"/>
              </a:spcAft>
            </a:pPr>
            <a:r>
              <a:rPr lang="en-US" dirty="0" smtClean="0">
                <a:latin typeface="Times New Roman"/>
                <a:ea typeface="Calibri"/>
                <a:cs typeface="Times New Roman"/>
              </a:rPr>
              <a:t>With the rapid advancements in artificial intelligence, particularly deep learning, automated systems have shown great promise in medical image analysis. Deep neural networks, known for their ability to learn complex patterns from large datasets, offer a powerful tool for identifying subtle features of diabetic eye diseases that may be missed by traditional methods.</a:t>
            </a:r>
            <a:endParaRPr lang="en-US" sz="1400" dirty="0">
              <a:latin typeface="Calibri"/>
              <a:ea typeface="Calibri"/>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05E9B21A-5B79-61A6-578E-106D7DAE09B3}"/>
              </a:ext>
            </a:extLst>
          </p:cNvPr>
          <p:cNvSpPr txBox="1"/>
          <p:nvPr/>
        </p:nvSpPr>
        <p:spPr>
          <a:xfrm>
            <a:off x="3348202" y="268592"/>
            <a:ext cx="5041024"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L</a:t>
            </a:r>
            <a:r>
              <a:rPr lang="en-IN" sz="3200" b="1" dirty="0" smtClean="0">
                <a:latin typeface="Times New Roman" panose="02020603050405020304" pitchFamily="18" charset="0"/>
                <a:cs typeface="Times New Roman" panose="02020603050405020304" pitchFamily="18" charset="0"/>
              </a:rPr>
              <a:t>iterature </a:t>
            </a:r>
            <a:r>
              <a:rPr lang="en-IN" sz="3200" b="1" dirty="0" err="1">
                <a:latin typeface="Times New Roman" panose="02020603050405020304" pitchFamily="18" charset="0"/>
                <a:cs typeface="Times New Roman" panose="02020603050405020304" pitchFamily="18" charset="0"/>
              </a:rPr>
              <a:t>servvey</a:t>
            </a:r>
            <a:endParaRPr lang="en-IN" sz="3200" b="1"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 xmlns:a16="http://schemas.microsoft.com/office/drawing/2014/main" id="{D18DEC5B-FB3C-411B-D205-4B4F9E28AD19}"/>
              </a:ext>
            </a:extLst>
          </p:cNvPr>
          <p:cNvSpPr>
            <a:spLocks noChangeArrowheads="1"/>
          </p:cNvSpPr>
          <p:nvPr/>
        </p:nvSpPr>
        <p:spPr bwMode="auto">
          <a:xfrm>
            <a:off x="803513" y="837030"/>
            <a:ext cx="8811134" cy="424731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a:lnSpc>
                <a:spcPct val="150000"/>
              </a:lnSpc>
              <a:buFont typeface="+mj-lt"/>
              <a:buAutoNum type="arabicPeriod"/>
            </a:pPr>
            <a:r>
              <a:rPr lang="en-US" sz="2000" b="1" dirty="0" smtClean="0">
                <a:latin typeface="Times New Roman"/>
                <a:ea typeface="Times New Roman"/>
              </a:rPr>
              <a:t>Importance of Early Detection of Diabetic Eye Diseases:</a:t>
            </a:r>
            <a:r>
              <a:rPr lang="en-US" sz="2000" dirty="0" smtClean="0">
                <a:latin typeface="Times New Roman"/>
                <a:ea typeface="Times New Roman"/>
              </a:rPr>
              <a:t/>
            </a:r>
            <a:br>
              <a:rPr lang="en-US" sz="2000" dirty="0" smtClean="0">
                <a:latin typeface="Times New Roman"/>
                <a:ea typeface="Times New Roman"/>
              </a:rPr>
            </a:br>
            <a:r>
              <a:rPr lang="en-US" sz="2000" dirty="0" smtClean="0">
                <a:latin typeface="Times New Roman"/>
                <a:ea typeface="Times New Roman"/>
              </a:rPr>
              <a:t>Diabetic eye diseases, such as diabetic retinopathy, are leading causes of blindness worldwide. Early diagnosis is crucial to prevent vision loss, and automated systems can help address the shortage of specialists.</a:t>
            </a:r>
          </a:p>
          <a:p>
            <a:pPr marL="342900" lvl="0" indent="-342900" algn="just">
              <a:lnSpc>
                <a:spcPct val="150000"/>
              </a:lnSpc>
              <a:buFont typeface="+mj-lt"/>
              <a:buAutoNum type="arabicPeriod"/>
            </a:pPr>
            <a:r>
              <a:rPr lang="en-US" sz="2000" b="1" dirty="0" smtClean="0">
                <a:latin typeface="Times New Roman"/>
                <a:ea typeface="Times New Roman"/>
              </a:rPr>
              <a:t>Role of Deep Neural Networks in Medical Image Analysis:</a:t>
            </a:r>
            <a:r>
              <a:rPr lang="en-US" sz="2000" dirty="0" smtClean="0">
                <a:latin typeface="Times New Roman"/>
                <a:ea typeface="Times New Roman"/>
              </a:rPr>
              <a:t/>
            </a:r>
            <a:br>
              <a:rPr lang="en-US" sz="2000" dirty="0" smtClean="0">
                <a:latin typeface="Times New Roman"/>
                <a:ea typeface="Times New Roman"/>
              </a:rPr>
            </a:br>
            <a:r>
              <a:rPr lang="en-US" sz="2000" dirty="0" smtClean="0">
                <a:latin typeface="Times New Roman"/>
                <a:ea typeface="Times New Roman"/>
              </a:rPr>
              <a:t>Deep learning, especially </a:t>
            </a:r>
            <a:r>
              <a:rPr lang="en-US" sz="2000" dirty="0" err="1" smtClean="0">
                <a:latin typeface="Times New Roman"/>
                <a:ea typeface="Times New Roman"/>
              </a:rPr>
              <a:t>convolutional</a:t>
            </a:r>
            <a:r>
              <a:rPr lang="en-US" sz="2000" dirty="0" smtClean="0">
                <a:latin typeface="Times New Roman"/>
                <a:ea typeface="Times New Roman"/>
              </a:rPr>
              <a:t> neural networks (CNNs), has revolutionized medical imaging by enabling automated and accurate detection of diseases from retinal images, outperforming traditional machine learning methods.</a:t>
            </a:r>
            <a:endParaRPr lang="en-US" sz="2000" dirty="0">
              <a:latin typeface="Times New Roman"/>
              <a:ea typeface="Times New Roman"/>
            </a:endParaRPr>
          </a:p>
        </p:txBody>
      </p:sp>
    </p:spTree>
    <p:extLst>
      <p:ext uri="{BB962C8B-B14F-4D97-AF65-F5344CB8AC3E}">
        <p14:creationId xmlns="" xmlns:p14="http://schemas.microsoft.com/office/powerpoint/2010/main" val="2342907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CustomShape 6"/>
          <p:cNvSpPr/>
          <p:nvPr/>
        </p:nvSpPr>
        <p:spPr>
          <a:xfrm>
            <a:off x="502560" y="225720"/>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2800" b="0" strike="noStrike" spc="-1" dirty="0">
                <a:solidFill>
                  <a:srgbClr val="000000"/>
                </a:solidFill>
                <a:latin typeface="Times New Roman" panose="02020603050405020304" pitchFamily="18" charset="0"/>
                <a:ea typeface="DejaVu Sans"/>
                <a:cs typeface="Times New Roman" panose="02020603050405020304" pitchFamily="18" charset="0"/>
              </a:rPr>
              <a:t>Existing System</a:t>
            </a:r>
            <a:endParaRPr lang="en-IN" sz="28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 xmlns:a16="http://schemas.microsoft.com/office/drawing/2014/main" id="{4ACAFAE0-BF8D-F884-8035-FD9DB2A6B27A}"/>
              </a:ext>
            </a:extLst>
          </p:cNvPr>
          <p:cNvSpPr>
            <a:spLocks noChangeArrowheads="1"/>
          </p:cNvSpPr>
          <p:nvPr/>
        </p:nvSpPr>
        <p:spPr bwMode="auto">
          <a:xfrm>
            <a:off x="730235" y="1043192"/>
            <a:ext cx="8817178" cy="420288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spcAft>
                <a:spcPts val="800"/>
              </a:spcAft>
            </a:pPr>
            <a:r>
              <a:rPr lang="en-IN" dirty="0" smtClean="0">
                <a:latin typeface="Times New Roman"/>
                <a:ea typeface="Calibri"/>
                <a:cs typeface="Times New Roman"/>
              </a:rPr>
              <a:t>Diabetic eye diseases, such as diabetic retinopathy and diabetic macular </a:t>
            </a:r>
            <a:r>
              <a:rPr lang="en-IN" dirty="0" err="1" smtClean="0">
                <a:latin typeface="Times New Roman"/>
                <a:ea typeface="Calibri"/>
                <a:cs typeface="Times New Roman"/>
              </a:rPr>
              <a:t>edema</a:t>
            </a:r>
            <a:r>
              <a:rPr lang="en-IN" dirty="0" smtClean="0">
                <a:latin typeface="Times New Roman"/>
                <a:ea typeface="Calibri"/>
                <a:cs typeface="Times New Roman"/>
              </a:rPr>
              <a:t>, are among the leading causes of vision impairment and blindness worldwide. Early detection and timely treatment of these conditions are critical to prevent severe vision loss. Traditional diagnosis relies heavily on manual examination of retinal images by ophthalmologists, which can be time-consuming, subjective, and prone to errors due to human fatigue or variability in expertise. Moreover, in many regions, there is a shortage of trained specialists, which limits access to timely diagnosis and treatment. Existing computer-aided diagnostic tools have attempted to address these challenges but often suffer from limited accuracy and </a:t>
            </a:r>
            <a:r>
              <a:rPr lang="en-IN" dirty="0" err="1" smtClean="0">
                <a:latin typeface="Times New Roman"/>
                <a:ea typeface="Calibri"/>
                <a:cs typeface="Times New Roman"/>
              </a:rPr>
              <a:t>generalizability</a:t>
            </a:r>
            <a:r>
              <a:rPr lang="en-IN" dirty="0" smtClean="0">
                <a:latin typeface="Times New Roman"/>
                <a:ea typeface="Calibri"/>
                <a:cs typeface="Times New Roman"/>
              </a:rPr>
              <a:t> due to reliance on handcrafted features and classical machine learning methods.</a:t>
            </a:r>
            <a:endParaRPr lang="en-US" sz="1400" dirty="0">
              <a:latin typeface="Calibri"/>
              <a:ea typeface="Calibri"/>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CustomShape 8"/>
          <p:cNvSpPr/>
          <p:nvPr/>
        </p:nvSpPr>
        <p:spPr>
          <a:xfrm>
            <a:off x="502560" y="225720"/>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4400" b="0" strike="noStrike" spc="-1">
                <a:solidFill>
                  <a:srgbClr val="000000"/>
                </a:solidFill>
                <a:latin typeface="Calibri"/>
                <a:ea typeface="DejaVu Sans"/>
              </a:rPr>
              <a:t>Drawbacks</a:t>
            </a:r>
            <a:endParaRPr lang="en-IN" sz="4400" b="0" strike="noStrike" spc="-1">
              <a:solidFill>
                <a:srgbClr val="000000"/>
              </a:solidFill>
              <a:latin typeface="Arial"/>
            </a:endParaRPr>
          </a:p>
        </p:txBody>
      </p:sp>
      <p:sp>
        <p:nvSpPr>
          <p:cNvPr id="2" name="Rectangle 1">
            <a:extLst>
              <a:ext uri="{FF2B5EF4-FFF2-40B4-BE49-F238E27FC236}">
                <a16:creationId xmlns="" xmlns:a16="http://schemas.microsoft.com/office/drawing/2014/main" id="{4D5A3512-BCC8-A273-6B07-740E9E78CA20}"/>
              </a:ext>
            </a:extLst>
          </p:cNvPr>
          <p:cNvSpPr>
            <a:spLocks noChangeArrowheads="1"/>
          </p:cNvSpPr>
          <p:nvPr/>
        </p:nvSpPr>
        <p:spPr bwMode="auto">
          <a:xfrm>
            <a:off x="952793" y="991284"/>
            <a:ext cx="8163339" cy="282949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07000"/>
              </a:lnSpc>
              <a:spcAft>
                <a:spcPts val="800"/>
              </a:spcAft>
            </a:pPr>
            <a:r>
              <a:rPr lang="en-US" sz="2000" dirty="0" smtClean="0">
                <a:latin typeface="Symbol"/>
                <a:ea typeface="Times New Roman"/>
                <a:cs typeface="Times New Roman"/>
              </a:rPr>
              <a:t>·</a:t>
            </a:r>
            <a:r>
              <a:rPr lang="en-US" sz="2000" dirty="0" smtClean="0">
                <a:latin typeface="Times New Roman"/>
                <a:ea typeface="Times New Roman"/>
                <a:cs typeface="Times New Roman"/>
              </a:rPr>
              <a:t>  </a:t>
            </a:r>
            <a:r>
              <a:rPr lang="en-US" sz="2000" b="1" dirty="0" smtClean="0">
                <a:latin typeface="Times New Roman"/>
                <a:ea typeface="Times New Roman"/>
                <a:cs typeface="Times New Roman"/>
              </a:rPr>
              <a:t>Manual Diagnosis Limitations:</a:t>
            </a:r>
            <a:r>
              <a:rPr lang="en-US" sz="2000" dirty="0" smtClean="0">
                <a:latin typeface="Times New Roman"/>
                <a:ea typeface="Times New Roman"/>
                <a:cs typeface="Times New Roman"/>
              </a:rPr>
              <a:t/>
            </a:r>
            <a:br>
              <a:rPr lang="en-US" sz="2000" dirty="0" smtClean="0">
                <a:latin typeface="Times New Roman"/>
                <a:ea typeface="Times New Roman"/>
                <a:cs typeface="Times New Roman"/>
              </a:rPr>
            </a:br>
            <a:r>
              <a:rPr lang="en-US" sz="2000" dirty="0" smtClean="0">
                <a:latin typeface="Times New Roman"/>
                <a:ea typeface="Times New Roman"/>
                <a:cs typeface="Times New Roman"/>
              </a:rPr>
              <a:t>Traditional diagnosis of diabetic eye diseases (like diabetic retinopathy) relies heavily on manual examination of retinal images by ophthalmologists, which is time-consuming, labor-intensive, and subject to human error.</a:t>
            </a:r>
            <a:endParaRPr lang="en-US" sz="2000" dirty="0" smtClean="0">
              <a:latin typeface="Calibri"/>
              <a:ea typeface="Calibri"/>
              <a:cs typeface="Times New Roman"/>
            </a:endParaRPr>
          </a:p>
          <a:p>
            <a:pPr>
              <a:lnSpc>
                <a:spcPct val="107000"/>
              </a:lnSpc>
              <a:spcAft>
                <a:spcPts val="800"/>
              </a:spcAft>
            </a:pPr>
            <a:r>
              <a:rPr lang="en-US" sz="2000" dirty="0" smtClean="0">
                <a:latin typeface="Symbol"/>
                <a:ea typeface="Times New Roman"/>
                <a:cs typeface="Times New Roman"/>
              </a:rPr>
              <a:t>·</a:t>
            </a:r>
            <a:r>
              <a:rPr lang="en-US" sz="2000" dirty="0" smtClean="0">
                <a:latin typeface="Times New Roman"/>
                <a:ea typeface="Times New Roman"/>
                <a:cs typeface="Times New Roman"/>
              </a:rPr>
              <a:t>  </a:t>
            </a:r>
            <a:r>
              <a:rPr lang="en-US" sz="2000" b="1" dirty="0" smtClean="0">
                <a:latin typeface="Times New Roman"/>
                <a:ea typeface="Times New Roman"/>
                <a:cs typeface="Times New Roman"/>
              </a:rPr>
              <a:t>Low Accuracy and Consistency:</a:t>
            </a:r>
            <a:r>
              <a:rPr lang="en-US" sz="2000" dirty="0" smtClean="0">
                <a:latin typeface="Times New Roman"/>
                <a:ea typeface="Times New Roman"/>
                <a:cs typeface="Times New Roman"/>
              </a:rPr>
              <a:t/>
            </a:r>
            <a:br>
              <a:rPr lang="en-US" sz="2000" dirty="0" smtClean="0">
                <a:latin typeface="Times New Roman"/>
                <a:ea typeface="Times New Roman"/>
                <a:cs typeface="Times New Roman"/>
              </a:rPr>
            </a:br>
            <a:r>
              <a:rPr lang="en-US" sz="2000" dirty="0" smtClean="0">
                <a:latin typeface="Times New Roman"/>
                <a:ea typeface="Times New Roman"/>
                <a:cs typeface="Times New Roman"/>
              </a:rPr>
              <a:t>Existing automated systems may use conventional machine learning methods which often require handcrafted features and may not capture the complex patterns in retinal images well, leading to lower accuracy.</a:t>
            </a:r>
            <a:endParaRPr lang="en-US" sz="2000" dirty="0">
              <a:latin typeface="Calibri"/>
              <a:ea typeface="Calibri"/>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CustomShape 10"/>
          <p:cNvSpPr/>
          <p:nvPr/>
        </p:nvSpPr>
        <p:spPr>
          <a:xfrm>
            <a:off x="502560" y="225720"/>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2800" b="0" strike="noStrike" spc="-1" dirty="0">
                <a:solidFill>
                  <a:srgbClr val="000000"/>
                </a:solidFill>
                <a:latin typeface="Times New Roman" panose="02020603050405020304" pitchFamily="18" charset="0"/>
                <a:ea typeface="DejaVu Sans"/>
                <a:cs typeface="Times New Roman" panose="02020603050405020304" pitchFamily="18" charset="0"/>
              </a:rPr>
              <a:t>Proposed System</a:t>
            </a:r>
            <a:endParaRPr lang="en-IN" sz="28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 xmlns:a16="http://schemas.microsoft.com/office/drawing/2014/main" id="{B74160CC-D8EC-52F7-7BCC-FC999B0EC6C1}"/>
              </a:ext>
            </a:extLst>
          </p:cNvPr>
          <p:cNvSpPr>
            <a:spLocks noChangeArrowheads="1"/>
          </p:cNvSpPr>
          <p:nvPr/>
        </p:nvSpPr>
        <p:spPr bwMode="auto">
          <a:xfrm>
            <a:off x="484094" y="927858"/>
            <a:ext cx="9082186" cy="424731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a:lnSpc>
                <a:spcPct val="150000"/>
              </a:lnSpc>
              <a:spcAft>
                <a:spcPts val="800"/>
              </a:spcAft>
              <a:buSzPts val="1000"/>
              <a:tabLst>
                <a:tab pos="457200" algn="l"/>
              </a:tabLst>
            </a:pPr>
            <a:r>
              <a:rPr lang="en-IN" dirty="0" smtClean="0">
                <a:latin typeface="Calibri"/>
                <a:ea typeface="Calibri"/>
                <a:cs typeface="Times New Roman"/>
              </a:rPr>
              <a:t>	To overcome the limitations of the existing approaches, the proposed system, "Deep Diabetic," leverages the power of deep neural networks to automatically identify diabetic eye diseases from retinal images with high accuracy and efficiency. Deep learning models, especially </a:t>
            </a:r>
            <a:r>
              <a:rPr lang="en-IN" dirty="0" err="1" smtClean="0">
                <a:latin typeface="Calibri"/>
                <a:ea typeface="Calibri"/>
                <a:cs typeface="Times New Roman"/>
              </a:rPr>
              <a:t>convolutional</a:t>
            </a:r>
            <a:r>
              <a:rPr lang="en-IN" dirty="0" smtClean="0">
                <a:latin typeface="Calibri"/>
                <a:ea typeface="Calibri"/>
                <a:cs typeface="Times New Roman"/>
              </a:rPr>
              <a:t> neural networks (CNNs), have demonstrated superior capability in learning complex patterns and features directly from image data, surpassing traditional methods. By integrating these advanced techniques, the system can provide consistent, rapid, and objective diagnoses, reducing dependency on specialist availability and human error. This approach aims to improve early detection rates, facilitate better patient management, and ultimately help prevent blindness caused by diabetic eye diseases, making it a crucial advancement in diabetic healthcare technology.</a:t>
            </a:r>
            <a:endParaRPr lang="en-US" sz="1400" dirty="0" smtClean="0">
              <a:latin typeface="Calibri"/>
              <a:ea typeface="Calibri"/>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CustomShape 12"/>
          <p:cNvSpPr/>
          <p:nvPr/>
        </p:nvSpPr>
        <p:spPr>
          <a:xfrm>
            <a:off x="502560" y="225720"/>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4400" b="0" strike="noStrike" spc="-1">
                <a:solidFill>
                  <a:srgbClr val="000000"/>
                </a:solidFill>
                <a:latin typeface="Calibri"/>
                <a:ea typeface="DejaVu Sans"/>
              </a:rPr>
              <a:t>Advantages</a:t>
            </a:r>
            <a:endParaRPr lang="en-IN" sz="4400" b="0" strike="noStrike" spc="-1">
              <a:solidFill>
                <a:srgbClr val="000000"/>
              </a:solidFill>
              <a:latin typeface="Arial"/>
            </a:endParaRPr>
          </a:p>
        </p:txBody>
      </p:sp>
      <p:sp>
        <p:nvSpPr>
          <p:cNvPr id="3" name="Rectangle 1">
            <a:extLst>
              <a:ext uri="{FF2B5EF4-FFF2-40B4-BE49-F238E27FC236}">
                <a16:creationId xmlns="" xmlns:a16="http://schemas.microsoft.com/office/drawing/2014/main" id="{8EC1ED73-8027-7564-7E45-8E5E7ADF29AD}"/>
              </a:ext>
            </a:extLst>
          </p:cNvPr>
          <p:cNvSpPr>
            <a:spLocks noChangeArrowheads="1"/>
          </p:cNvSpPr>
          <p:nvPr/>
        </p:nvSpPr>
        <p:spPr bwMode="auto">
          <a:xfrm>
            <a:off x="850626" y="1090806"/>
            <a:ext cx="8817810" cy="295106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dirty="0" smtClean="0">
                <a:latin typeface="Symbol"/>
                <a:ea typeface="Times New Roman"/>
              </a:rPr>
              <a:t>·</a:t>
            </a:r>
            <a:r>
              <a:rPr lang="en-US" dirty="0" smtClean="0">
                <a:latin typeface="Times New Roman"/>
                <a:ea typeface="Times New Roman"/>
              </a:rPr>
              <a:t>  </a:t>
            </a:r>
            <a:r>
              <a:rPr lang="en-US" b="1" dirty="0" smtClean="0">
                <a:latin typeface="Times New Roman"/>
                <a:ea typeface="Times New Roman"/>
              </a:rPr>
              <a:t>Deep Neural Networks (DNN) for Higher Accuracy:</a:t>
            </a:r>
            <a:r>
              <a:rPr lang="en-US" dirty="0" smtClean="0">
                <a:latin typeface="Times New Roman"/>
                <a:ea typeface="Times New Roman"/>
              </a:rPr>
              <a:t/>
            </a:r>
            <a:br>
              <a:rPr lang="en-US" dirty="0" smtClean="0">
                <a:latin typeface="Times New Roman"/>
                <a:ea typeface="Times New Roman"/>
              </a:rPr>
            </a:br>
            <a:r>
              <a:rPr lang="en-US" dirty="0" smtClean="0">
                <a:latin typeface="Times New Roman"/>
                <a:ea typeface="Times New Roman"/>
              </a:rPr>
              <a:t>By leveraging deep learning, specifically </a:t>
            </a:r>
            <a:r>
              <a:rPr lang="en-US" dirty="0" err="1" smtClean="0">
                <a:latin typeface="Times New Roman"/>
                <a:ea typeface="Times New Roman"/>
              </a:rPr>
              <a:t>convolutional</a:t>
            </a:r>
            <a:r>
              <a:rPr lang="en-US" dirty="0" smtClean="0">
                <a:latin typeface="Times New Roman"/>
                <a:ea typeface="Times New Roman"/>
              </a:rPr>
              <a:t> neural networks (CNNs), the system can automatically learn complex features from raw retinal images, improving accuracy and robustness in detecting diabetic eye diseases.</a:t>
            </a:r>
          </a:p>
          <a:p>
            <a:pPr>
              <a:lnSpc>
                <a:spcPct val="150000"/>
              </a:lnSpc>
            </a:pPr>
            <a:r>
              <a:rPr lang="en-US" dirty="0" smtClean="0">
                <a:latin typeface="Symbol"/>
                <a:ea typeface="Times New Roman"/>
              </a:rPr>
              <a:t>·</a:t>
            </a:r>
            <a:r>
              <a:rPr lang="en-US" dirty="0" smtClean="0">
                <a:latin typeface="Times New Roman"/>
                <a:ea typeface="Times New Roman"/>
              </a:rPr>
              <a:t>  </a:t>
            </a:r>
            <a:r>
              <a:rPr lang="en-US" b="1" dirty="0" smtClean="0">
                <a:latin typeface="Times New Roman"/>
                <a:ea typeface="Times New Roman"/>
              </a:rPr>
              <a:t>Faster and Automated Diagnosis:</a:t>
            </a:r>
            <a:r>
              <a:rPr lang="en-US" dirty="0" smtClean="0">
                <a:latin typeface="Times New Roman"/>
                <a:ea typeface="Times New Roman"/>
              </a:rPr>
              <a:t/>
            </a:r>
            <a:br>
              <a:rPr lang="en-US" dirty="0" smtClean="0">
                <a:latin typeface="Times New Roman"/>
                <a:ea typeface="Times New Roman"/>
              </a:rPr>
            </a:br>
            <a:r>
              <a:rPr lang="en-US" dirty="0" smtClean="0">
                <a:latin typeface="Times New Roman"/>
                <a:ea typeface="Times New Roman"/>
              </a:rPr>
              <a:t>The system can quickly analyze images and provide immediate results, facilitating early detection and timely treatment.</a:t>
            </a:r>
            <a:endParaRPr lang="en-US" dirty="0">
              <a:latin typeface="Times New Roman"/>
              <a:ea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CustomShape 14"/>
          <p:cNvSpPr/>
          <p:nvPr/>
        </p:nvSpPr>
        <p:spPr>
          <a:xfrm>
            <a:off x="673920" y="483754"/>
            <a:ext cx="8978760" cy="81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fontScale="62500" lnSpcReduction="20000"/>
          </a:bodyPr>
          <a:lstStyle/>
          <a:p>
            <a:pPr>
              <a:lnSpc>
                <a:spcPct val="100000"/>
              </a:lnSpc>
            </a:pPr>
            <a:r>
              <a:rPr lang="en-US" sz="4400" b="1" u="sng" strike="noStrike" spc="-1">
                <a:solidFill>
                  <a:srgbClr val="775F55"/>
                </a:solidFill>
                <a:uFillTx/>
                <a:latin typeface="Tw Cen MT"/>
                <a:ea typeface="DejaVu Sans"/>
              </a:rPr>
              <a:t>HARDWARE REQUIREMENTS:</a:t>
            </a:r>
            <a:r>
              <a:rPr sz="4400"/>
              <a:t/>
            </a:r>
            <a:br>
              <a:rPr sz="4400"/>
            </a:br>
            <a:endParaRPr lang="en-IN" sz="4400" b="0" strike="noStrike" spc="-1">
              <a:solidFill>
                <a:srgbClr val="000000"/>
              </a:solidFill>
              <a:latin typeface="Arial"/>
            </a:endParaRPr>
          </a:p>
        </p:txBody>
      </p:sp>
      <p:sp>
        <p:nvSpPr>
          <p:cNvPr id="171" name="CustomShape 13"/>
          <p:cNvSpPr/>
          <p:nvPr/>
        </p:nvSpPr>
        <p:spPr>
          <a:xfrm>
            <a:off x="673920" y="1321920"/>
            <a:ext cx="8978760" cy="37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IN" sz="2000" dirty="0" smtClean="0"/>
              <a:t>•	System		:	 Pentium IV 2.4 GHz.</a:t>
            </a:r>
            <a:endParaRPr lang="en-US" sz="2000" dirty="0" smtClean="0"/>
          </a:p>
          <a:p>
            <a:pPr>
              <a:lnSpc>
                <a:spcPct val="150000"/>
              </a:lnSpc>
            </a:pPr>
            <a:r>
              <a:rPr lang="en-IN" sz="2000" dirty="0" smtClean="0"/>
              <a:t>•	Hard Disk        	: 	40 GB.</a:t>
            </a:r>
            <a:endParaRPr lang="en-US" sz="2000" dirty="0" smtClean="0"/>
          </a:p>
          <a:p>
            <a:pPr>
              <a:lnSpc>
                <a:spcPct val="150000"/>
              </a:lnSpc>
            </a:pPr>
            <a:r>
              <a:rPr lang="en-IN" sz="2000" dirty="0" smtClean="0"/>
              <a:t>•	Ram		: 	512 Mb.</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CustomShape 16"/>
          <p:cNvSpPr/>
          <p:nvPr/>
        </p:nvSpPr>
        <p:spPr>
          <a:xfrm>
            <a:off x="673920" y="470307"/>
            <a:ext cx="8978760" cy="81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fontScale="62500" lnSpcReduction="20000"/>
          </a:bodyPr>
          <a:lstStyle/>
          <a:p>
            <a:pPr>
              <a:lnSpc>
                <a:spcPct val="100000"/>
              </a:lnSpc>
            </a:pPr>
            <a:r>
              <a:rPr lang="en-US" sz="4400" b="1" u="sng" strike="noStrike" spc="-1" dirty="0">
                <a:solidFill>
                  <a:srgbClr val="775F55"/>
                </a:solidFill>
                <a:uFillTx/>
                <a:latin typeface="Tw Cen MT"/>
                <a:ea typeface="DejaVu Sans"/>
              </a:rPr>
              <a:t>SOFTWARE REQUIREMENTS:</a:t>
            </a:r>
            <a:r>
              <a:rPr sz="4400"/>
              <a:t/>
            </a:r>
            <a:br>
              <a:rPr sz="4400"/>
            </a:br>
            <a:endParaRPr lang="en-IN" sz="4400" b="0" strike="noStrike" spc="-1" dirty="0">
              <a:solidFill>
                <a:srgbClr val="000000"/>
              </a:solidFill>
              <a:latin typeface="Arial"/>
            </a:endParaRPr>
          </a:p>
        </p:txBody>
      </p:sp>
      <p:sp>
        <p:nvSpPr>
          <p:cNvPr id="173" name="CustomShape 15"/>
          <p:cNvSpPr/>
          <p:nvPr/>
        </p:nvSpPr>
        <p:spPr>
          <a:xfrm>
            <a:off x="673920" y="1321920"/>
            <a:ext cx="8978760" cy="37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IN" sz="2000" dirty="0" smtClean="0"/>
              <a:t>•	Operating system 	: 	 Windows.</a:t>
            </a:r>
            <a:endParaRPr lang="en-US" sz="2000" dirty="0" smtClean="0"/>
          </a:p>
          <a:p>
            <a:pPr>
              <a:lnSpc>
                <a:spcPct val="150000"/>
              </a:lnSpc>
            </a:pPr>
            <a:r>
              <a:rPr lang="en-IN" sz="2000" dirty="0" smtClean="0"/>
              <a:t>•	Coding Language	:	  python.</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CustomShape 17"/>
          <p:cNvSpPr/>
          <p:nvPr/>
        </p:nvSpPr>
        <p:spPr>
          <a:xfrm>
            <a:off x="898592" y="280786"/>
            <a:ext cx="8978760" cy="81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IN" sz="2800" b="1" u="sng" strike="noStrike" spc="-1" dirty="0">
                <a:solidFill>
                  <a:srgbClr val="000000"/>
                </a:solidFill>
                <a:latin typeface="Times New Roman" panose="02020603050405020304" pitchFamily="18" charset="0"/>
                <a:ea typeface="DejaVu Sans"/>
                <a:cs typeface="Times New Roman" panose="02020603050405020304" pitchFamily="18" charset="0"/>
              </a:rPr>
              <a:t>Modules</a:t>
            </a:r>
            <a:endParaRPr lang="en-IN" sz="2800" b="1" u="sng" strike="noStrike" spc="-1" dirty="0">
              <a:solidFill>
                <a:srgbClr val="00000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 xmlns:a16="http://schemas.microsoft.com/office/drawing/2014/main" id="{2571C4AE-1CAE-293E-CC04-EDD8E103FDC6}"/>
              </a:ext>
            </a:extLst>
          </p:cNvPr>
          <p:cNvSpPr>
            <a:spLocks noChangeArrowheads="1"/>
          </p:cNvSpPr>
          <p:nvPr/>
        </p:nvSpPr>
        <p:spPr bwMode="auto">
          <a:xfrm>
            <a:off x="1006169" y="807160"/>
            <a:ext cx="8440867" cy="46525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spcAft>
                <a:spcPts val="800"/>
              </a:spcAft>
            </a:pPr>
            <a:r>
              <a:rPr lang="en-US" b="1" dirty="0" smtClean="0">
                <a:latin typeface="Times New Roman"/>
                <a:ea typeface="Times New Roman"/>
                <a:cs typeface="Times New Roman"/>
              </a:rPr>
              <a:t>1. Data Acquisition Module</a:t>
            </a:r>
            <a:endParaRPr lang="en-US" sz="1400" dirty="0" smtClean="0">
              <a:latin typeface="Calibri"/>
              <a:ea typeface="Calibri"/>
              <a:cs typeface="Times New Roman"/>
            </a:endParaRPr>
          </a:p>
          <a:p>
            <a:pPr>
              <a:lnSpc>
                <a:spcPct val="150000"/>
              </a:lnSpc>
              <a:spcAft>
                <a:spcPts val="800"/>
              </a:spcAft>
            </a:pPr>
            <a:r>
              <a:rPr lang="en-US" b="1" dirty="0" smtClean="0">
                <a:latin typeface="Times New Roman"/>
                <a:ea typeface="Times New Roman"/>
                <a:cs typeface="Times New Roman"/>
              </a:rPr>
              <a:t>2. Data Preprocessing Module</a:t>
            </a:r>
            <a:endParaRPr lang="en-US" sz="1400" dirty="0" smtClean="0">
              <a:latin typeface="Calibri"/>
              <a:ea typeface="Calibri"/>
              <a:cs typeface="Times New Roman"/>
            </a:endParaRPr>
          </a:p>
          <a:p>
            <a:pPr>
              <a:lnSpc>
                <a:spcPct val="150000"/>
              </a:lnSpc>
              <a:spcAft>
                <a:spcPts val="800"/>
              </a:spcAft>
            </a:pPr>
            <a:r>
              <a:rPr lang="en-US" b="1" dirty="0" smtClean="0">
                <a:latin typeface="Times New Roman"/>
                <a:ea typeface="Times New Roman"/>
                <a:cs typeface="Times New Roman"/>
              </a:rPr>
              <a:t>3. Feature Extraction Module</a:t>
            </a:r>
            <a:endParaRPr lang="en-US" sz="1400" dirty="0" smtClean="0">
              <a:latin typeface="Calibri"/>
              <a:ea typeface="Calibri"/>
              <a:cs typeface="Times New Roman"/>
            </a:endParaRPr>
          </a:p>
          <a:p>
            <a:pPr>
              <a:lnSpc>
                <a:spcPct val="150000"/>
              </a:lnSpc>
              <a:spcAft>
                <a:spcPts val="800"/>
              </a:spcAft>
            </a:pPr>
            <a:r>
              <a:rPr lang="en-US" b="1" dirty="0" smtClean="0">
                <a:latin typeface="Times New Roman"/>
                <a:ea typeface="Times New Roman"/>
                <a:cs typeface="Times New Roman"/>
              </a:rPr>
              <a:t>4. Deep Neural Network Module</a:t>
            </a:r>
            <a:endParaRPr lang="en-US" sz="1400" dirty="0" smtClean="0">
              <a:latin typeface="Calibri"/>
              <a:ea typeface="Calibri"/>
              <a:cs typeface="Times New Roman"/>
            </a:endParaRPr>
          </a:p>
          <a:p>
            <a:pPr>
              <a:lnSpc>
                <a:spcPct val="150000"/>
              </a:lnSpc>
              <a:spcAft>
                <a:spcPts val="800"/>
              </a:spcAft>
            </a:pPr>
            <a:r>
              <a:rPr lang="en-US" b="1" dirty="0" smtClean="0">
                <a:latin typeface="Times New Roman"/>
                <a:ea typeface="Times New Roman"/>
                <a:cs typeface="Times New Roman"/>
              </a:rPr>
              <a:t>5. Model Training and Validation Module</a:t>
            </a:r>
            <a:endParaRPr lang="en-US" sz="1400" dirty="0" smtClean="0">
              <a:latin typeface="Calibri"/>
              <a:ea typeface="Calibri"/>
              <a:cs typeface="Times New Roman"/>
            </a:endParaRPr>
          </a:p>
          <a:p>
            <a:pPr>
              <a:lnSpc>
                <a:spcPct val="150000"/>
              </a:lnSpc>
              <a:spcAft>
                <a:spcPts val="800"/>
              </a:spcAft>
            </a:pPr>
            <a:r>
              <a:rPr lang="en-US" b="1" dirty="0" smtClean="0">
                <a:latin typeface="Times New Roman"/>
                <a:ea typeface="Times New Roman"/>
                <a:cs typeface="Times New Roman"/>
              </a:rPr>
              <a:t>6. Disease Classification Module</a:t>
            </a:r>
            <a:endParaRPr lang="en-US" sz="1400" dirty="0" smtClean="0">
              <a:latin typeface="Calibri"/>
              <a:ea typeface="Calibri"/>
              <a:cs typeface="Times New Roman"/>
            </a:endParaRPr>
          </a:p>
          <a:p>
            <a:pPr>
              <a:lnSpc>
                <a:spcPct val="150000"/>
              </a:lnSpc>
              <a:spcAft>
                <a:spcPts val="800"/>
              </a:spcAft>
            </a:pPr>
            <a:r>
              <a:rPr lang="en-US" b="1" dirty="0" smtClean="0">
                <a:latin typeface="Times New Roman"/>
                <a:ea typeface="Times New Roman"/>
                <a:cs typeface="Times New Roman"/>
              </a:rPr>
              <a:t>7. User Interface Module</a:t>
            </a:r>
            <a:endParaRPr lang="en-US" sz="1400" dirty="0" smtClean="0">
              <a:latin typeface="Calibri"/>
              <a:ea typeface="Calibri"/>
              <a:cs typeface="Times New Roman"/>
            </a:endParaRPr>
          </a:p>
          <a:p>
            <a:pPr>
              <a:lnSpc>
                <a:spcPct val="150000"/>
              </a:lnSpc>
              <a:spcAft>
                <a:spcPts val="800"/>
              </a:spcAft>
            </a:pPr>
            <a:r>
              <a:rPr lang="en-US" b="1" dirty="0" smtClean="0">
                <a:latin typeface="Times New Roman"/>
                <a:ea typeface="Times New Roman"/>
                <a:cs typeface="Times New Roman"/>
              </a:rPr>
              <a:t>8. System Evaluation Module</a:t>
            </a:r>
            <a:endParaRPr lang="en-US" sz="1400" dirty="0" smtClean="0">
              <a:latin typeface="Calibri"/>
              <a:ea typeface="Calibri"/>
              <a:cs typeface="Times New Roman"/>
            </a:endParaRPr>
          </a:p>
          <a:p>
            <a:pPr>
              <a:lnSpc>
                <a:spcPct val="150000"/>
              </a:lnSpc>
              <a:spcAft>
                <a:spcPts val="800"/>
              </a:spcAft>
            </a:pPr>
            <a:r>
              <a:rPr lang="en-US" b="1" dirty="0" smtClean="0">
                <a:latin typeface="Times New Roman"/>
                <a:ea typeface="Times New Roman"/>
                <a:cs typeface="Times New Roman"/>
              </a:rPr>
              <a:t>9. Deployment Module</a:t>
            </a:r>
            <a:endParaRPr lang="en-US" sz="1400" dirty="0">
              <a:latin typeface="Calibri"/>
              <a:ea typeface="Calibri"/>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08529" y="578224"/>
            <a:ext cx="4840942" cy="461665"/>
          </a:xfrm>
          <a:prstGeom prst="rect">
            <a:avLst/>
          </a:prstGeom>
          <a:noFill/>
        </p:spPr>
        <p:txBody>
          <a:bodyPr wrap="square" rtlCol="0">
            <a:spAutoFit/>
          </a:bodyPr>
          <a:lstStyle/>
          <a:p>
            <a:r>
              <a:rPr lang="en-IN" sz="2400" b="1" dirty="0" smtClean="0">
                <a:latin typeface="Times New Roman" pitchFamily="18" charset="0"/>
                <a:cs typeface="Times New Roman" pitchFamily="18" charset="0"/>
              </a:rPr>
              <a:t>System Architecture:</a:t>
            </a:r>
            <a:endParaRPr lang="en-US" sz="2400" b="1" dirty="0">
              <a:latin typeface="Times New Roman" pitchFamily="18" charset="0"/>
              <a:cs typeface="Times New Roman" pitchFamily="18" charset="0"/>
            </a:endParaRPr>
          </a:p>
        </p:txBody>
      </p:sp>
      <p:pic>
        <p:nvPicPr>
          <p:cNvPr id="7" name="Picture 6" descr="Diagnostics | Free Full-Text | Identifying the Key Components in ResNet ..."/>
          <p:cNvPicPr/>
          <p:nvPr/>
        </p:nvPicPr>
        <p:blipFill>
          <a:blip r:embed="rId2"/>
          <a:srcRect/>
          <a:stretch>
            <a:fillRect/>
          </a:stretch>
        </p:blipFill>
        <p:spPr bwMode="auto">
          <a:xfrm>
            <a:off x="2419032" y="1547495"/>
            <a:ext cx="5242560" cy="257556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CustomShape 19"/>
          <p:cNvSpPr/>
          <p:nvPr/>
        </p:nvSpPr>
        <p:spPr>
          <a:xfrm>
            <a:off x="673920" y="187920"/>
            <a:ext cx="8978760" cy="81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100000"/>
              </a:lnSpc>
            </a:pPr>
            <a:r>
              <a:rPr lang="en-IN" sz="4400" b="0" strike="noStrike" spc="-1">
                <a:solidFill>
                  <a:srgbClr val="000000"/>
                </a:solidFill>
                <a:latin typeface="Arial"/>
                <a:ea typeface="DejaVu Sans"/>
              </a:rPr>
              <a:t>UML</a:t>
            </a:r>
            <a:endParaRPr lang="en-IN" sz="4400" b="0" strike="noStrike" spc="-1">
              <a:solidFill>
                <a:srgbClr val="000000"/>
              </a:solidFill>
              <a:latin typeface="Arial"/>
            </a:endParaRPr>
          </a:p>
        </p:txBody>
      </p:sp>
      <p:sp>
        <p:nvSpPr>
          <p:cNvPr id="183" name="CustomShape 20"/>
          <p:cNvSpPr/>
          <p:nvPr/>
        </p:nvSpPr>
        <p:spPr>
          <a:xfrm>
            <a:off x="631080" y="824400"/>
            <a:ext cx="8978760" cy="37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just">
              <a:lnSpc>
                <a:spcPct val="108000"/>
              </a:lnSpc>
              <a:spcAft>
                <a:spcPts val="799"/>
              </a:spcAft>
            </a:pPr>
            <a:endParaRPr lang="en-IN" sz="1800" b="0" strike="noStrike" spc="-1">
              <a:solidFill>
                <a:srgbClr val="000000"/>
              </a:solidFill>
              <a:latin typeface="Times New Roman"/>
              <a:ea typeface="Times New Roman"/>
            </a:endParaRPr>
          </a:p>
        </p:txBody>
      </p:sp>
      <p:sp>
        <p:nvSpPr>
          <p:cNvPr id="6" name="TextBox 5"/>
          <p:cNvSpPr txBox="1"/>
          <p:nvPr/>
        </p:nvSpPr>
        <p:spPr>
          <a:xfrm>
            <a:off x="1116106" y="1183341"/>
            <a:ext cx="3724835" cy="400110"/>
          </a:xfrm>
          <a:prstGeom prst="rect">
            <a:avLst/>
          </a:prstGeom>
          <a:noFill/>
        </p:spPr>
        <p:txBody>
          <a:bodyPr wrap="square" rtlCol="0">
            <a:spAutoFit/>
          </a:bodyPr>
          <a:lstStyle/>
          <a:p>
            <a:r>
              <a:rPr lang="en-IN" sz="2000" b="1" dirty="0" smtClean="0">
                <a:latin typeface="Times New Roman" pitchFamily="18" charset="0"/>
                <a:cs typeface="Times New Roman" pitchFamily="18" charset="0"/>
              </a:rPr>
              <a:t>Class Diagram:</a:t>
            </a:r>
            <a:endParaRPr lang="en-US" sz="2000" b="1" dirty="0">
              <a:latin typeface="Times New Roman" pitchFamily="18" charset="0"/>
              <a:cs typeface="Times New Roman" pitchFamily="18" charset="0"/>
            </a:endParaRPr>
          </a:p>
        </p:txBody>
      </p:sp>
      <p:pic>
        <p:nvPicPr>
          <p:cNvPr id="10" name="Picture 9"/>
          <p:cNvPicPr/>
          <p:nvPr/>
        </p:nvPicPr>
        <p:blipFill>
          <a:blip r:embed="rId2"/>
          <a:srcRect/>
          <a:stretch>
            <a:fillRect/>
          </a:stretch>
        </p:blipFill>
        <p:spPr bwMode="auto">
          <a:xfrm>
            <a:off x="4023042" y="2019935"/>
            <a:ext cx="2034540" cy="163068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16106" y="753037"/>
            <a:ext cx="3724835" cy="400110"/>
          </a:xfrm>
          <a:prstGeom prst="rect">
            <a:avLst/>
          </a:prstGeom>
          <a:noFill/>
        </p:spPr>
        <p:txBody>
          <a:bodyPr wrap="square" rtlCol="0">
            <a:spAutoFit/>
          </a:bodyPr>
          <a:lstStyle/>
          <a:p>
            <a:r>
              <a:rPr lang="en-IN" sz="2000" b="1" dirty="0" smtClean="0">
                <a:latin typeface="Times New Roman" pitchFamily="18" charset="0"/>
                <a:cs typeface="Times New Roman" pitchFamily="18" charset="0"/>
              </a:rPr>
              <a:t>Use case Diagram:</a:t>
            </a:r>
            <a:endParaRPr lang="en-US" sz="2000" b="1" dirty="0">
              <a:latin typeface="Times New Roman" pitchFamily="18" charset="0"/>
              <a:cs typeface="Times New Roman" pitchFamily="18" charset="0"/>
            </a:endParaRPr>
          </a:p>
        </p:txBody>
      </p:sp>
      <p:pic>
        <p:nvPicPr>
          <p:cNvPr id="9" name="Picture 8"/>
          <p:cNvPicPr/>
          <p:nvPr/>
        </p:nvPicPr>
        <p:blipFill>
          <a:blip r:embed="rId2"/>
          <a:srcRect/>
          <a:stretch>
            <a:fillRect/>
          </a:stretch>
        </p:blipFill>
        <p:spPr bwMode="auto">
          <a:xfrm>
            <a:off x="2715540" y="846903"/>
            <a:ext cx="4030980" cy="545592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89212" y="820270"/>
            <a:ext cx="2327881" cy="400110"/>
          </a:xfrm>
          <a:prstGeom prst="rect">
            <a:avLst/>
          </a:prstGeom>
          <a:noFill/>
        </p:spPr>
        <p:txBody>
          <a:bodyPr wrap="none" rtlCol="0">
            <a:spAutoFit/>
          </a:bodyPr>
          <a:lstStyle/>
          <a:p>
            <a:r>
              <a:rPr lang="en-IN" sz="2000" b="1" dirty="0" smtClean="0">
                <a:latin typeface="Times New Roman" pitchFamily="18" charset="0"/>
                <a:cs typeface="Times New Roman" pitchFamily="18" charset="0"/>
              </a:rPr>
              <a:t>Sequence Diagram:</a:t>
            </a:r>
            <a:endParaRPr lang="en-US" sz="2000" b="1" dirty="0">
              <a:latin typeface="Times New Roman" pitchFamily="18" charset="0"/>
              <a:cs typeface="Times New Roman" pitchFamily="18" charset="0"/>
            </a:endParaRPr>
          </a:p>
        </p:txBody>
      </p:sp>
      <p:pic>
        <p:nvPicPr>
          <p:cNvPr id="8" name="Picture 7"/>
          <p:cNvPicPr/>
          <p:nvPr/>
        </p:nvPicPr>
        <p:blipFill>
          <a:blip r:embed="rId2"/>
          <a:srcRect/>
          <a:stretch>
            <a:fillRect/>
          </a:stretch>
        </p:blipFill>
        <p:spPr bwMode="auto">
          <a:xfrm>
            <a:off x="3276731" y="1273810"/>
            <a:ext cx="3634740" cy="439674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58153" y="1021976"/>
            <a:ext cx="2824812" cy="400110"/>
          </a:xfrm>
          <a:prstGeom prst="rect">
            <a:avLst/>
          </a:prstGeom>
          <a:noFill/>
        </p:spPr>
        <p:txBody>
          <a:bodyPr wrap="none" rtlCol="0">
            <a:spAutoFit/>
          </a:bodyPr>
          <a:lstStyle/>
          <a:p>
            <a:r>
              <a:rPr lang="en-IN" sz="2000" b="1" dirty="0" smtClean="0">
                <a:latin typeface="Times New Roman" pitchFamily="18" charset="0"/>
                <a:cs typeface="Times New Roman" pitchFamily="18" charset="0"/>
              </a:rPr>
              <a:t>Collaboration Diagram:</a:t>
            </a:r>
            <a:endParaRPr lang="en-US" sz="2000" b="1" dirty="0">
              <a:latin typeface="Times New Roman" pitchFamily="18" charset="0"/>
              <a:cs typeface="Times New Roman" pitchFamily="18" charset="0"/>
            </a:endParaRPr>
          </a:p>
        </p:txBody>
      </p:sp>
      <p:pic>
        <p:nvPicPr>
          <p:cNvPr id="8" name="Picture 7"/>
          <p:cNvPicPr/>
          <p:nvPr/>
        </p:nvPicPr>
        <p:blipFill>
          <a:blip r:embed="rId2"/>
          <a:srcRect/>
          <a:stretch>
            <a:fillRect/>
          </a:stretch>
        </p:blipFill>
        <p:spPr bwMode="auto">
          <a:xfrm>
            <a:off x="3713088" y="2068793"/>
            <a:ext cx="2580136" cy="1924984"/>
          </a:xfrm>
          <a:prstGeom prst="rect">
            <a:avLst/>
          </a:prstGeom>
          <a:noFill/>
          <a:ln w="9525">
            <a:noFill/>
            <a:miter lim="800000"/>
            <a:headEnd/>
            <a:tailEnd/>
          </a:ln>
        </p:spPr>
      </p:pic>
    </p:spTree>
    <p:extLst>
      <p:ext uri="{BB962C8B-B14F-4D97-AF65-F5344CB8AC3E}">
        <p14:creationId xmlns="" xmlns:p14="http://schemas.microsoft.com/office/powerpoint/2010/main" val="3113015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p:nvPr/>
        </p:nvPicPr>
        <p:blipFill>
          <a:blip r:embed="rId2"/>
          <a:stretch>
            <a:fillRect/>
          </a:stretch>
        </p:blipFill>
        <p:spPr>
          <a:xfrm>
            <a:off x="2174557" y="1336675"/>
            <a:ext cx="5731510" cy="2997200"/>
          </a:xfrm>
          <a:prstGeom prst="rect">
            <a:avLst/>
          </a:prstGeom>
        </p:spPr>
      </p:pic>
    </p:spTree>
    <p:extLst>
      <p:ext uri="{BB962C8B-B14F-4D97-AF65-F5344CB8AC3E}">
        <p14:creationId xmlns="" xmlns:p14="http://schemas.microsoft.com/office/powerpoint/2010/main" val="3604280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p:nvPr/>
        </p:nvPicPr>
        <p:blipFill>
          <a:blip r:embed="rId2"/>
          <a:stretch>
            <a:fillRect/>
          </a:stretch>
        </p:blipFill>
        <p:spPr>
          <a:xfrm>
            <a:off x="2174557" y="1223962"/>
            <a:ext cx="5731510" cy="3222625"/>
          </a:xfrm>
          <a:prstGeom prst="rect">
            <a:avLst/>
          </a:prstGeom>
        </p:spPr>
      </p:pic>
    </p:spTree>
    <p:extLst>
      <p:ext uri="{BB962C8B-B14F-4D97-AF65-F5344CB8AC3E}">
        <p14:creationId xmlns="" xmlns:p14="http://schemas.microsoft.com/office/powerpoint/2010/main" val="11399551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p:nvPr/>
        </p:nvPicPr>
        <p:blipFill>
          <a:blip r:embed="rId2"/>
          <a:stretch>
            <a:fillRect/>
          </a:stretch>
        </p:blipFill>
        <p:spPr>
          <a:xfrm>
            <a:off x="2174557" y="1223962"/>
            <a:ext cx="5731510" cy="3222625"/>
          </a:xfrm>
          <a:prstGeom prst="rect">
            <a:avLst/>
          </a:prstGeom>
        </p:spPr>
      </p:pic>
    </p:spTree>
    <p:extLst>
      <p:ext uri="{BB962C8B-B14F-4D97-AF65-F5344CB8AC3E}">
        <p14:creationId xmlns="" xmlns:p14="http://schemas.microsoft.com/office/powerpoint/2010/main" val="26845578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p:nvPr/>
        </p:nvPicPr>
        <p:blipFill>
          <a:blip r:embed="rId2"/>
          <a:stretch>
            <a:fillRect/>
          </a:stretch>
        </p:blipFill>
        <p:spPr>
          <a:xfrm>
            <a:off x="2174557" y="1223962"/>
            <a:ext cx="5731510" cy="3222625"/>
          </a:xfrm>
          <a:prstGeom prst="rect">
            <a:avLst/>
          </a:prstGeom>
        </p:spPr>
      </p:pic>
    </p:spTree>
    <p:extLst>
      <p:ext uri="{BB962C8B-B14F-4D97-AF65-F5344CB8AC3E}">
        <p14:creationId xmlns="" xmlns:p14="http://schemas.microsoft.com/office/powerpoint/2010/main" val="73364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p:nvPr/>
        </p:nvPicPr>
        <p:blipFill>
          <a:blip r:embed="rId2"/>
          <a:stretch>
            <a:fillRect/>
          </a:stretch>
        </p:blipFill>
        <p:spPr>
          <a:xfrm>
            <a:off x="2174557" y="1223962"/>
            <a:ext cx="5731510" cy="3222625"/>
          </a:xfrm>
          <a:prstGeom prst="rect">
            <a:avLst/>
          </a:prstGeom>
        </p:spPr>
      </p:pic>
    </p:spTree>
    <p:extLst>
      <p:ext uri="{BB962C8B-B14F-4D97-AF65-F5344CB8AC3E}">
        <p14:creationId xmlns="" xmlns:p14="http://schemas.microsoft.com/office/powerpoint/2010/main" val="34360687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p:nvPr/>
        </p:nvPicPr>
        <p:blipFill>
          <a:blip r:embed="rId2"/>
          <a:stretch>
            <a:fillRect/>
          </a:stretch>
        </p:blipFill>
        <p:spPr>
          <a:xfrm>
            <a:off x="2174557" y="1587500"/>
            <a:ext cx="5731510" cy="2495550"/>
          </a:xfrm>
          <a:prstGeom prst="rect">
            <a:avLst/>
          </a:prstGeom>
        </p:spPr>
      </p:pic>
    </p:spTree>
    <p:extLst>
      <p:ext uri="{BB962C8B-B14F-4D97-AF65-F5344CB8AC3E}">
        <p14:creationId xmlns="" xmlns:p14="http://schemas.microsoft.com/office/powerpoint/2010/main" val="3634582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p:nvPr/>
        </p:nvPicPr>
        <p:blipFill>
          <a:blip r:embed="rId2"/>
          <a:stretch>
            <a:fillRect/>
          </a:stretch>
        </p:blipFill>
        <p:spPr>
          <a:xfrm>
            <a:off x="2174557" y="1223962"/>
            <a:ext cx="5731510" cy="322262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78F02837-69E7-F570-94A1-F410F148CCE6}"/>
              </a:ext>
            </a:extLst>
          </p:cNvPr>
          <p:cNvSpPr txBox="1"/>
          <p:nvPr/>
        </p:nvSpPr>
        <p:spPr>
          <a:xfrm>
            <a:off x="3761815" y="435057"/>
            <a:ext cx="5041024"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C</a:t>
            </a:r>
            <a:r>
              <a:rPr lang="en-IN" sz="3200" b="1" dirty="0" smtClean="0">
                <a:latin typeface="Times New Roman" panose="02020603050405020304" pitchFamily="18" charset="0"/>
                <a:cs typeface="Times New Roman" panose="02020603050405020304" pitchFamily="18" charset="0"/>
              </a:rPr>
              <a:t>onclusion</a:t>
            </a:r>
            <a:endParaRPr lang="en-IN" sz="32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 xmlns:a16="http://schemas.microsoft.com/office/drawing/2014/main" id="{012400A7-CB27-3D65-CD21-44DDFBB3A8EA}"/>
              </a:ext>
            </a:extLst>
          </p:cNvPr>
          <p:cNvSpPr>
            <a:spLocks noChangeArrowheads="1"/>
          </p:cNvSpPr>
          <p:nvPr/>
        </p:nvSpPr>
        <p:spPr bwMode="auto">
          <a:xfrm>
            <a:off x="817156" y="1067590"/>
            <a:ext cx="8528550" cy="378206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dirty="0" smtClean="0">
                <a:latin typeface="Times New Roman" pitchFamily="18" charset="0"/>
                <a:cs typeface="Times New Roman" pitchFamily="18" charset="0"/>
              </a:rPr>
              <a:t>This study presents </a:t>
            </a:r>
            <a:r>
              <a:rPr lang="en-US" b="1" dirty="0" smtClean="0">
                <a:latin typeface="Times New Roman" pitchFamily="18" charset="0"/>
                <a:cs typeface="Times New Roman" pitchFamily="18" charset="0"/>
              </a:rPr>
              <a:t>Deep Diabetic</a:t>
            </a:r>
            <a:r>
              <a:rPr lang="en-US" dirty="0" smtClean="0">
                <a:latin typeface="Times New Roman" pitchFamily="18" charset="0"/>
                <a:cs typeface="Times New Roman" pitchFamily="18" charset="0"/>
              </a:rPr>
              <a:t>, a deep neural network-based identification system designed to detect diabetic eye diseases from retinal images with high accuracy and reliability. The system leverages advanced </a:t>
            </a:r>
            <a:r>
              <a:rPr lang="en-US" dirty="0" err="1" smtClean="0">
                <a:latin typeface="Times New Roman" pitchFamily="18" charset="0"/>
                <a:cs typeface="Times New Roman" pitchFamily="18" charset="0"/>
              </a:rPr>
              <a:t>convolutional</a:t>
            </a:r>
            <a:r>
              <a:rPr lang="en-US" dirty="0" smtClean="0">
                <a:latin typeface="Times New Roman" pitchFamily="18" charset="0"/>
                <a:cs typeface="Times New Roman" pitchFamily="18" charset="0"/>
              </a:rPr>
              <a:t> neural networks to automatically extract and classify relevant features, outperforming traditional machine learning methods. Experimental results demonstrate the system’s robustness and potential as an effective screening tool in clinical settings. By providing a fast and accurate diagnostic aid, Deep Diabetic can help bridge the gap in diabetic eye disease screening, especially in regions with limited access to specialized care, thereby contributing to early intervention and better patient outcomes.</a:t>
            </a:r>
            <a:endParaRPr lang="en-US" dirty="0">
              <a:latin typeface="Times New Roman" pitchFamily="18" charset="0"/>
              <a:cs typeface="Times New Roman" pitchFamily="18" charset="0"/>
            </a:endParaRPr>
          </a:p>
        </p:txBody>
      </p:sp>
    </p:spTree>
    <p:extLst>
      <p:ext uri="{BB962C8B-B14F-4D97-AF65-F5344CB8AC3E}">
        <p14:creationId xmlns="" xmlns:p14="http://schemas.microsoft.com/office/powerpoint/2010/main" val="24213074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5D5A5E8B-BA49-8881-A56C-446675C4133C}"/>
              </a:ext>
            </a:extLst>
          </p:cNvPr>
          <p:cNvSpPr txBox="1"/>
          <p:nvPr/>
        </p:nvSpPr>
        <p:spPr>
          <a:xfrm>
            <a:off x="3344957" y="460095"/>
            <a:ext cx="5041024"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F</a:t>
            </a:r>
            <a:r>
              <a:rPr lang="en-IN" sz="3200" b="1" dirty="0" smtClean="0">
                <a:latin typeface="Times New Roman" panose="02020603050405020304" pitchFamily="18" charset="0"/>
                <a:cs typeface="Times New Roman" panose="02020603050405020304" pitchFamily="18" charset="0"/>
              </a:rPr>
              <a:t>uture </a:t>
            </a:r>
            <a:r>
              <a:rPr lang="en-IN" sz="3200" b="1" dirty="0">
                <a:latin typeface="Times New Roman" panose="02020603050405020304" pitchFamily="18" charset="0"/>
                <a:cs typeface="Times New Roman" panose="02020603050405020304" pitchFamily="18" charset="0"/>
              </a:rPr>
              <a:t>work</a:t>
            </a:r>
          </a:p>
        </p:txBody>
      </p:sp>
      <p:sp>
        <p:nvSpPr>
          <p:cNvPr id="4" name="Rectangle 1">
            <a:extLst>
              <a:ext uri="{FF2B5EF4-FFF2-40B4-BE49-F238E27FC236}">
                <a16:creationId xmlns="" xmlns:a16="http://schemas.microsoft.com/office/drawing/2014/main" id="{E44B1C4B-0455-4877-9244-EEF3D798AF86}"/>
              </a:ext>
            </a:extLst>
          </p:cNvPr>
          <p:cNvSpPr>
            <a:spLocks noChangeArrowheads="1"/>
          </p:cNvSpPr>
          <p:nvPr/>
        </p:nvSpPr>
        <p:spPr bwMode="auto">
          <a:xfrm>
            <a:off x="860613" y="1137749"/>
            <a:ext cx="8404412" cy="378738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spcAft>
                <a:spcPts val="800"/>
              </a:spcAft>
            </a:pPr>
            <a:r>
              <a:rPr lang="en-US" dirty="0" smtClean="0">
                <a:latin typeface="Times New Roman"/>
                <a:ea typeface="Calibri"/>
                <a:cs typeface="Times New Roman"/>
              </a:rPr>
              <a:t>Future work will focus on expanding the dataset to include a wider variety of diabetic eye disease stages and different imaging conditions to improve the model’s </a:t>
            </a:r>
            <a:r>
              <a:rPr lang="en-US" dirty="0" err="1" smtClean="0">
                <a:latin typeface="Times New Roman"/>
                <a:ea typeface="Calibri"/>
                <a:cs typeface="Times New Roman"/>
              </a:rPr>
              <a:t>generalizability</a:t>
            </a:r>
            <a:r>
              <a:rPr lang="en-US" dirty="0" smtClean="0">
                <a:latin typeface="Times New Roman"/>
                <a:ea typeface="Calibri"/>
                <a:cs typeface="Times New Roman"/>
              </a:rPr>
              <a:t>. Additionally, integrating multi-modal data such as patient history and other diagnostic tests could enhance diagnostic accuracy. Real-time deployment on mobile and web platforms will be explored to enable widespread accessibility and usability in remote or underserved areas. Furthermore, incorporating explainable AI techniques will help clinicians understand the model’s decisions, fostering trust and facilitating integration into clinical workflows. Continuous refinement and validation of the system with larger clinical trials are essential steps towards its adoption as a standard diagnostic tool.</a:t>
            </a:r>
            <a:endParaRPr lang="en-US" sz="1400" dirty="0">
              <a:latin typeface="Calibri"/>
              <a:ea typeface="Calibri"/>
              <a:cs typeface="Times New Roman"/>
            </a:endParaRPr>
          </a:p>
        </p:txBody>
      </p:sp>
    </p:spTree>
    <p:extLst>
      <p:ext uri="{BB962C8B-B14F-4D97-AF65-F5344CB8AC3E}">
        <p14:creationId xmlns="" xmlns:p14="http://schemas.microsoft.com/office/powerpoint/2010/main" val="38269495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BF5C202-A8AF-CB20-14FE-1BC7A0FB86ED}"/>
              </a:ext>
            </a:extLst>
          </p:cNvPr>
          <p:cNvSpPr txBox="1"/>
          <p:nvPr/>
        </p:nvSpPr>
        <p:spPr>
          <a:xfrm>
            <a:off x="2299795" y="282504"/>
            <a:ext cx="5041024" cy="584775"/>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R</a:t>
            </a:r>
            <a:r>
              <a:rPr lang="en-IN" sz="3200" b="1" dirty="0" smtClean="0">
                <a:latin typeface="Times New Roman" panose="02020603050405020304" pitchFamily="18" charset="0"/>
                <a:cs typeface="Times New Roman" panose="02020603050405020304" pitchFamily="18" charset="0"/>
              </a:rPr>
              <a:t>eference</a:t>
            </a:r>
            <a:endParaRPr lang="en-IN" sz="32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 xmlns:a16="http://schemas.microsoft.com/office/drawing/2014/main" id="{E0363BAD-9D9D-747A-CFE6-730AB53B6F35}"/>
              </a:ext>
            </a:extLst>
          </p:cNvPr>
          <p:cNvSpPr>
            <a:spLocks noChangeArrowheads="1"/>
          </p:cNvSpPr>
          <p:nvPr/>
        </p:nvSpPr>
        <p:spPr bwMode="auto">
          <a:xfrm>
            <a:off x="590115" y="780160"/>
            <a:ext cx="8943849" cy="46183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a:lnSpc>
                <a:spcPct val="150000"/>
              </a:lnSpc>
              <a:spcAft>
                <a:spcPts val="0"/>
              </a:spcAft>
              <a:tabLst>
                <a:tab pos="457200" algn="l"/>
              </a:tabLst>
            </a:pPr>
            <a:r>
              <a:rPr lang="en-US" dirty="0" smtClean="0">
                <a:latin typeface="Times New Roman"/>
                <a:ea typeface="Times New Roman"/>
                <a:cs typeface="Times New Roman"/>
              </a:rPr>
              <a:t>  </a:t>
            </a:r>
            <a:r>
              <a:rPr lang="en-US" dirty="0" err="1" smtClean="0">
                <a:latin typeface="Times New Roman"/>
                <a:ea typeface="Times New Roman"/>
                <a:cs typeface="Times New Roman"/>
              </a:rPr>
              <a:t>Gulshan</a:t>
            </a:r>
            <a:r>
              <a:rPr lang="en-US" dirty="0" smtClean="0">
                <a:latin typeface="Times New Roman"/>
                <a:ea typeface="Times New Roman"/>
                <a:cs typeface="Times New Roman"/>
              </a:rPr>
              <a:t>, V., </a:t>
            </a:r>
            <a:r>
              <a:rPr lang="en-US" dirty="0" err="1" smtClean="0">
                <a:latin typeface="Times New Roman"/>
                <a:ea typeface="Times New Roman"/>
                <a:cs typeface="Times New Roman"/>
              </a:rPr>
              <a:t>Peng</a:t>
            </a:r>
            <a:r>
              <a:rPr lang="en-US" dirty="0" smtClean="0">
                <a:latin typeface="Times New Roman"/>
                <a:ea typeface="Times New Roman"/>
                <a:cs typeface="Times New Roman"/>
              </a:rPr>
              <a:t>, L., Coram, M., et al. (2016). Development and validation of a deep learning algorithm for detection of diabetic retinopathy in retinal </a:t>
            </a:r>
            <a:r>
              <a:rPr lang="en-US" dirty="0" err="1" smtClean="0">
                <a:latin typeface="Times New Roman"/>
                <a:ea typeface="Times New Roman"/>
                <a:cs typeface="Times New Roman"/>
              </a:rPr>
              <a:t>fundus</a:t>
            </a:r>
            <a:r>
              <a:rPr lang="en-US" dirty="0" smtClean="0">
                <a:latin typeface="Times New Roman"/>
                <a:ea typeface="Times New Roman"/>
                <a:cs typeface="Times New Roman"/>
              </a:rPr>
              <a:t> photographs. </a:t>
            </a:r>
            <a:r>
              <a:rPr lang="en-US" i="1" dirty="0" smtClean="0">
                <a:latin typeface="Times New Roman"/>
                <a:ea typeface="Times New Roman"/>
                <a:cs typeface="Times New Roman"/>
              </a:rPr>
              <a:t>JAMA</a:t>
            </a:r>
            <a:r>
              <a:rPr lang="en-US" dirty="0" smtClean="0">
                <a:latin typeface="Times New Roman"/>
                <a:ea typeface="Times New Roman"/>
                <a:cs typeface="Times New Roman"/>
              </a:rPr>
              <a:t>, 316(22), 2402–2410.</a:t>
            </a:r>
            <a:br>
              <a:rPr lang="en-US" dirty="0" smtClean="0">
                <a:latin typeface="Times New Roman"/>
                <a:ea typeface="Times New Roman"/>
                <a:cs typeface="Times New Roman"/>
              </a:rPr>
            </a:br>
            <a:r>
              <a:rPr lang="en-US" dirty="0" smtClean="0">
                <a:latin typeface="Times New Roman"/>
                <a:ea typeface="Times New Roman"/>
                <a:cs typeface="Times New Roman"/>
              </a:rPr>
              <a:t>https://doi.org/10.1001/jama.2016.17216</a:t>
            </a:r>
            <a:endParaRPr lang="en-US" sz="1600" dirty="0" smtClean="0">
              <a:latin typeface="Calibri"/>
              <a:ea typeface="Calibri"/>
              <a:cs typeface="Times New Roman"/>
            </a:endParaRPr>
          </a:p>
          <a:p>
            <a:pPr marL="342900" lvl="0" indent="-342900" algn="just">
              <a:lnSpc>
                <a:spcPct val="150000"/>
              </a:lnSpc>
              <a:spcAft>
                <a:spcPts val="0"/>
              </a:spcAft>
              <a:tabLst>
                <a:tab pos="457200" algn="l"/>
              </a:tabLst>
            </a:pPr>
            <a:r>
              <a:rPr lang="en-US" dirty="0" smtClean="0">
                <a:latin typeface="Times New Roman"/>
                <a:ea typeface="Times New Roman"/>
                <a:cs typeface="Times New Roman"/>
              </a:rPr>
              <a:t>  Ting, D. S. W., Cheung, C. Y., Lim, G., et al. (2017). Development and validation of a deep learning system for diabetic retinopathy and related eye diseases using retinal images from multiethnic populations with diabetes. </a:t>
            </a:r>
            <a:r>
              <a:rPr lang="en-US" i="1" dirty="0" smtClean="0">
                <a:latin typeface="Times New Roman"/>
                <a:ea typeface="Times New Roman"/>
                <a:cs typeface="Times New Roman"/>
              </a:rPr>
              <a:t>JAMA</a:t>
            </a:r>
            <a:r>
              <a:rPr lang="en-US" dirty="0" smtClean="0">
                <a:latin typeface="Times New Roman"/>
                <a:ea typeface="Times New Roman"/>
                <a:cs typeface="Times New Roman"/>
              </a:rPr>
              <a:t>, 318(22), 2211–2223.</a:t>
            </a:r>
            <a:br>
              <a:rPr lang="en-US" dirty="0" smtClean="0">
                <a:latin typeface="Times New Roman"/>
                <a:ea typeface="Times New Roman"/>
                <a:cs typeface="Times New Roman"/>
              </a:rPr>
            </a:br>
            <a:r>
              <a:rPr lang="en-US" dirty="0" smtClean="0">
                <a:latin typeface="Times New Roman"/>
                <a:ea typeface="Times New Roman"/>
                <a:cs typeface="Times New Roman"/>
              </a:rPr>
              <a:t>https://doi.org/10.1001/jama.2017.18152</a:t>
            </a:r>
            <a:endParaRPr lang="en-US" sz="1600" dirty="0" smtClean="0">
              <a:latin typeface="Calibri"/>
              <a:ea typeface="Calibri"/>
              <a:cs typeface="Times New Roman"/>
            </a:endParaRPr>
          </a:p>
          <a:p>
            <a:pPr marL="342900" lvl="0" indent="-342900" algn="just">
              <a:lnSpc>
                <a:spcPct val="150000"/>
              </a:lnSpc>
              <a:spcAft>
                <a:spcPts val="0"/>
              </a:spcAft>
              <a:tabLst>
                <a:tab pos="457200" algn="l"/>
              </a:tabLst>
            </a:pPr>
            <a:r>
              <a:rPr lang="en-US" dirty="0" smtClean="0">
                <a:latin typeface="Times New Roman"/>
                <a:ea typeface="Times New Roman"/>
                <a:cs typeface="Times New Roman"/>
              </a:rPr>
              <a:t>  Pratt, H., </a:t>
            </a:r>
            <a:r>
              <a:rPr lang="en-US" dirty="0" err="1" smtClean="0">
                <a:latin typeface="Times New Roman"/>
                <a:ea typeface="Times New Roman"/>
                <a:cs typeface="Times New Roman"/>
              </a:rPr>
              <a:t>Coenen</a:t>
            </a:r>
            <a:r>
              <a:rPr lang="en-US" dirty="0" smtClean="0">
                <a:latin typeface="Times New Roman"/>
                <a:ea typeface="Times New Roman"/>
                <a:cs typeface="Times New Roman"/>
              </a:rPr>
              <a:t>, F., Broadbent, D. M., et al. (2016). </a:t>
            </a:r>
            <a:r>
              <a:rPr lang="en-US" dirty="0" err="1" smtClean="0">
                <a:latin typeface="Times New Roman"/>
                <a:ea typeface="Times New Roman"/>
                <a:cs typeface="Times New Roman"/>
              </a:rPr>
              <a:t>Convolutional</a:t>
            </a:r>
            <a:r>
              <a:rPr lang="en-US" dirty="0" smtClean="0">
                <a:latin typeface="Times New Roman"/>
                <a:ea typeface="Times New Roman"/>
                <a:cs typeface="Times New Roman"/>
              </a:rPr>
              <a:t> neural networks for diabetic retinopathy. </a:t>
            </a:r>
            <a:r>
              <a:rPr lang="en-US" i="1" dirty="0" err="1" smtClean="0">
                <a:latin typeface="Times New Roman"/>
                <a:ea typeface="Times New Roman"/>
                <a:cs typeface="Times New Roman"/>
              </a:rPr>
              <a:t>Procedia</a:t>
            </a:r>
            <a:r>
              <a:rPr lang="en-US" i="1" dirty="0" smtClean="0">
                <a:latin typeface="Times New Roman"/>
                <a:ea typeface="Times New Roman"/>
                <a:cs typeface="Times New Roman"/>
              </a:rPr>
              <a:t> Computer Science</a:t>
            </a:r>
            <a:r>
              <a:rPr lang="en-US" dirty="0" smtClean="0">
                <a:latin typeface="Times New Roman"/>
                <a:ea typeface="Times New Roman"/>
                <a:cs typeface="Times New Roman"/>
              </a:rPr>
              <a:t>, 90, 200–205.</a:t>
            </a:r>
            <a:br>
              <a:rPr lang="en-US" dirty="0" smtClean="0">
                <a:latin typeface="Times New Roman"/>
                <a:ea typeface="Times New Roman"/>
                <a:cs typeface="Times New Roman"/>
              </a:rPr>
            </a:br>
            <a:r>
              <a:rPr lang="en-US" dirty="0" smtClean="0">
                <a:latin typeface="Times New Roman"/>
                <a:ea typeface="Times New Roman"/>
                <a:cs typeface="Times New Roman"/>
              </a:rPr>
              <a:t>https://</a:t>
            </a:r>
            <a:r>
              <a:rPr lang="en-US" dirty="0" smtClean="0">
                <a:latin typeface="Times New Roman"/>
                <a:ea typeface="Times New Roman"/>
                <a:cs typeface="Times New Roman"/>
              </a:rPr>
              <a:t>doi.org/10.1016/j.procs.2016.07.014</a:t>
            </a:r>
            <a:endParaRPr lang="en-US" sz="1600" dirty="0" smtClean="0">
              <a:latin typeface="Calibri"/>
              <a:ea typeface="Calibri"/>
              <a:cs typeface="Times New Roman"/>
            </a:endParaRPr>
          </a:p>
        </p:txBody>
      </p:sp>
    </p:spTree>
    <p:extLst>
      <p:ext uri="{BB962C8B-B14F-4D97-AF65-F5344CB8AC3E}">
        <p14:creationId xmlns="" xmlns:p14="http://schemas.microsoft.com/office/powerpoint/2010/main" val="38007050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 xmlns:a16="http://schemas.microsoft.com/office/drawing/2014/main" id="{84F27C7C-BEEF-C488-F786-980A6FC08CF4}"/>
              </a:ext>
            </a:extLst>
          </p:cNvPr>
          <p:cNvSpPr>
            <a:spLocks noGrp="1"/>
          </p:cNvSpPr>
          <p:nvPr>
            <p:ph type="subTitle"/>
          </p:nvPr>
        </p:nvSpPr>
        <p:spPr/>
        <p:txBody>
          <a:bodyPr/>
          <a:lstStyle/>
          <a:p>
            <a:pPr marL="0" indent="0" algn="ctr">
              <a:buNone/>
            </a:pPr>
            <a:r>
              <a:rPr lang="en-US" sz="5400" dirty="0">
                <a:latin typeface="Times New Roman" panose="02020603050405020304" pitchFamily="18" charset="0"/>
                <a:cs typeface="Times New Roman" panose="02020603050405020304" pitchFamily="18" charset="0"/>
              </a:rPr>
              <a:t>THANK YOU</a:t>
            </a:r>
            <a:endParaRPr lang="en-IN" sz="54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400875779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381</TotalTime>
  <Words>737</Words>
  <Application>Microsoft Office PowerPoint</Application>
  <PresentationFormat>Custom</PresentationFormat>
  <Paragraphs>52</Paragraphs>
  <Slides>27</Slides>
  <Notes>1</Notes>
  <HiddenSlides>0</HiddenSlides>
  <MMClips>0</MMClips>
  <ScaleCrop>false</ScaleCrop>
  <HeadingPairs>
    <vt:vector size="4" baseType="variant">
      <vt:variant>
        <vt:lpstr>Theme</vt:lpstr>
      </vt:variant>
      <vt:variant>
        <vt:i4>3</vt:i4>
      </vt:variant>
      <vt:variant>
        <vt:lpstr>Slide Titles</vt:lpstr>
      </vt:variant>
      <vt:variant>
        <vt:i4>27</vt:i4>
      </vt:variant>
    </vt:vector>
  </HeadingPairs>
  <TitlesOfParts>
    <vt:vector size="30" baseType="lpstr">
      <vt:lpstr>Office Theme</vt:lpstr>
      <vt:lpstr>Office Theme</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perikala Gowtham</dc:creator>
  <cp:lastModifiedBy>sandeep</cp:lastModifiedBy>
  <cp:revision>36</cp:revision>
  <dcterms:created xsi:type="dcterms:W3CDTF">2024-02-19T10:18:03Z</dcterms:created>
  <dcterms:modified xsi:type="dcterms:W3CDTF">2025-05-22T12:12:22Z</dcterms:modified>
  <dc:language>en-IN</dc:language>
</cp:coreProperties>
</file>